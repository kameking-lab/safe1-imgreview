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1168" y="0"/>
            <a:ext cx="3996842" cy="91440"/>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98010" y="0"/>
            <a:ext cx="3996842" cy="9144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94852" y="0"/>
            <a:ext cx="3996842" cy="9144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17320"/>
            <a:ext cx="10424160" cy="1005840"/>
          </a:xfrm>
          <a:prstGeom prst="rect">
            <a:avLst/>
          </a:prstGeom>
          <a:noFill/>
          <a:ln>
            <a:noFill/>
          </a:ln>
        </p:spPr>
        <p:txBody>
          <a:bodyPr wrap="square" anchor="t" lIns="50800" rIns="50800" tIns="25400" bIns="25400">
            <a:spAutoFit/>
          </a:bodyPr>
          <a:lstStyle/>
          <a:p>
            <a:pPr algn="l"/>
            <a:r>
              <a:rPr sz="4600" b="1" lang="ja-JP" altLang="en-US">
                <a:solidFill>
                  <a:srgbClr val="1F3A60"/>
                </a:solidFill>
                <a:latin typeface="游ゴシック"/>
                <a:ea typeface="游ゴシック"/>
                <a:cs typeface="游ゴシック"/>
              </a:rPr>
              <a:t>データに基づく安全管理</a:t>
            </a:r>
          </a:p>
        </p:txBody>
      </p:sp>
      <p:sp>
        <p:nvSpPr>
          <p:cNvPr id="7" name="TextBox 6"/>
          <p:cNvSpPr txBox="1"/>
          <p:nvPr/>
        </p:nvSpPr>
        <p:spPr>
          <a:xfrm>
            <a:off x="960120" y="2395728"/>
            <a:ext cx="10424160" cy="1005840"/>
          </a:xfrm>
          <a:prstGeom prst="rect">
            <a:avLst/>
          </a:prstGeom>
          <a:noFill/>
          <a:ln>
            <a:noFill/>
          </a:ln>
        </p:spPr>
        <p:txBody>
          <a:bodyPr wrap="square" anchor="t" lIns="50800" rIns="50800" tIns="25400" bIns="25400">
            <a:spAutoFit/>
          </a:bodyPr>
          <a:lstStyle/>
          <a:p>
            <a:pPr algn="l"/>
            <a:r>
              <a:rPr sz="4600" b="1" lang="ja-JP" altLang="en-US">
                <a:solidFill>
                  <a:srgbClr val="E2231A"/>
                </a:solidFill>
                <a:latin typeface="游ゴシック"/>
                <a:ea typeface="游ゴシック"/>
                <a:cs typeface="游ゴシック"/>
              </a:rPr>
              <a:t>＋ </a:t>
            </a:r>
            <a:r>
              <a:rPr sz="4600" b="1" lang="ja-JP" altLang="en-US">
                <a:solidFill>
                  <a:srgbClr val="1F3A60"/>
                </a:solidFill>
                <a:latin typeface="游ゴシック"/>
                <a:ea typeface="游ゴシック"/>
                <a:cs typeface="游ゴシック"/>
              </a:rPr>
              <a:t>AIによる自動化</a:t>
            </a:r>
          </a:p>
        </p:txBody>
      </p:sp>
      <p:sp>
        <p:nvSpPr>
          <p:cNvPr id="8" name="TextBox 7"/>
          <p:cNvSpPr txBox="1"/>
          <p:nvPr/>
        </p:nvSpPr>
        <p:spPr>
          <a:xfrm>
            <a:off x="987552" y="3584448"/>
            <a:ext cx="10058400" cy="548640"/>
          </a:xfrm>
          <a:prstGeom prst="rect">
            <a:avLst/>
          </a:prstGeom>
          <a:noFill/>
          <a:ln>
            <a:noFill/>
          </a:ln>
        </p:spPr>
        <p:txBody>
          <a:bodyPr wrap="square" anchor="t" lIns="50800" rIns="50800" tIns="25400" bIns="25400">
            <a:spAutoFit/>
          </a:bodyPr>
          <a:lstStyle/>
          <a:p>
            <a:pPr algn="l"/>
            <a:r>
              <a:rPr sz="1800" b="0" lang="ja-JP" altLang="en-US">
                <a:solidFill>
                  <a:srgbClr val="5E5E5E"/>
                </a:solidFill>
                <a:latin typeface="游ゴシック"/>
                <a:ea typeface="游ゴシック"/>
                <a:cs typeface="游ゴシック"/>
              </a:rPr>
              <a:t>経験と勘に頼らない、科学的な安全教育を、速く・安く。</a:t>
            </a:r>
          </a:p>
        </p:txBody>
      </p:sp>
      <p:sp>
        <p:nvSpPr>
          <p:cNvPr id="9" name="Rectangle 8"/>
          <p:cNvSpPr/>
          <p:nvPr/>
        </p:nvSpPr>
        <p:spPr>
          <a:xfrm>
            <a:off x="987552" y="4370832"/>
            <a:ext cx="4023360" cy="36576"/>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846320"/>
            <a:ext cx="8229600" cy="548640"/>
          </a:xfrm>
          <a:prstGeom prst="rect">
            <a:avLst/>
          </a:prstGeom>
          <a:noFill/>
          <a:ln>
            <a:noFill/>
          </a:ln>
        </p:spPr>
        <p:txBody>
          <a:bodyPr wrap="square" anchor="t" lIns="50800" rIns="50800" tIns="25400" bIns="25400">
            <a:spAutoFit/>
          </a:bodyPr>
          <a:lstStyle/>
          <a:p>
            <a:pPr algn="l"/>
            <a:r>
              <a:rPr sz="2200" b="1" lang="ja-JP" altLang="en-US">
                <a:solidFill>
                  <a:srgbClr val="1A1A1A"/>
                </a:solidFill>
                <a:latin typeface="游ゴシック"/>
                <a:ea typeface="游ゴシック"/>
                <a:cs typeface="游ゴシック"/>
              </a:rPr>
              <a:t>株式会社 博展　御中</a:t>
            </a:r>
          </a:p>
        </p:txBody>
      </p:sp>
      <p:sp>
        <p:nvSpPr>
          <p:cNvPr id="11" name="TextBox 10"/>
          <p:cNvSpPr txBox="1"/>
          <p:nvPr/>
        </p:nvSpPr>
        <p:spPr>
          <a:xfrm>
            <a:off x="987552" y="5577840"/>
            <a:ext cx="9601200" cy="365760"/>
          </a:xfrm>
          <a:prstGeom prst="rect">
            <a:avLst/>
          </a:prstGeom>
          <a:noFill/>
          <a:ln>
            <a:noFill/>
          </a:ln>
        </p:spPr>
        <p:txBody>
          <a:bodyPr wrap="square" anchor="t" lIns="50800" rIns="50800" tIns="25400" bIns="25400">
            <a:spAutoFit/>
          </a:bodyPr>
          <a:lstStyle/>
          <a:p>
            <a:pPr algn="l"/>
            <a:r>
              <a:rPr sz="1200" b="0" lang="ja-JP" altLang="en-US">
                <a:solidFill>
                  <a:srgbClr val="5E5E5E"/>
                </a:solidFill>
                <a:latin typeface="游ゴシック"/>
                <a:ea typeface="游ゴシック"/>
                <a:cs typeface="游ゴシック"/>
              </a:rPr>
              <a:t>監修：金田 義太（労働安全コンサルタント 登録第4840号）</a:t>
            </a:r>
          </a:p>
        </p:txBody>
      </p:sp>
      <p:sp>
        <p:nvSpPr>
          <p:cNvPr id="12" name="TextBox 11"/>
          <p:cNvSpPr txBox="1"/>
          <p:nvPr/>
        </p:nvSpPr>
        <p:spPr>
          <a:xfrm>
            <a:off x="987552" y="5989320"/>
            <a:ext cx="9601200" cy="365760"/>
          </a:xfrm>
          <a:prstGeom prst="rect">
            <a:avLst/>
          </a:prstGeom>
          <a:noFill/>
          <a:ln>
            <a:noFill/>
          </a:ln>
        </p:spPr>
        <p:txBody>
          <a:bodyPr wrap="square" anchor="t" lIns="50800" rIns="50800" tIns="25400" bIns="25400">
            <a:spAutoFit/>
          </a:bodyPr>
          <a:lstStyle/>
          <a:p>
            <a:pPr algn="l"/>
            <a:r>
              <a:rPr sz="1100" b="0" lang="ja-JP" altLang="en-US">
                <a:solidFill>
                  <a:srgbClr val="8A8A8A"/>
                </a:solidFill>
                <a:latin typeface="游ゴシック"/>
                <a:ea typeface="游ゴシック"/>
                <a:cs typeface="游ゴシック"/>
              </a:rPr>
              <a:t>作成日：2026年6月21日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749808" cy="384048"/>
          </a:xfrm>
          <a:prstGeom prst="rect">
            <a:avLst/>
          </a:prstGeom>
          <a:solidFill>
            <a:srgbClr val="E2231A"/>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課題</a:t>
            </a:r>
          </a:p>
        </p:txBody>
      </p:sp>
      <p:sp>
        <p:nvSpPr>
          <p:cNvPr id="3" name="TextBox 2"/>
          <p:cNvSpPr txBox="1"/>
          <p:nvPr/>
        </p:nvSpPr>
        <p:spPr>
          <a:xfrm>
            <a:off x="1554480" y="365760"/>
            <a:ext cx="10058400" cy="457200"/>
          </a:xfrm>
          <a:prstGeom prst="rect">
            <a:avLst/>
          </a:prstGeom>
          <a:noFill/>
          <a:ln>
            <a:noFill/>
          </a:ln>
        </p:spPr>
        <p:txBody>
          <a:bodyPr wrap="square" anchor="ctr" lIns="50800" rIns="50800" tIns="25400" bIns="25400">
            <a:spAutoFit/>
          </a:bodyPr>
          <a:lstStyle/>
          <a:p>
            <a:pPr algn="l"/>
            <a:r>
              <a:rPr sz="2600" b="1" lang="ja-JP" altLang="en-US">
                <a:solidFill>
                  <a:srgbClr val="1A1A1A"/>
                </a:solidFill>
                <a:latin typeface="游ゴシック"/>
                <a:ea typeface="游ゴシック"/>
                <a:cs typeface="游ゴシック"/>
              </a:rPr>
              <a:t>従来の安全教育は、ベテランの“経験頼み”</a:t>
            </a:r>
          </a:p>
        </p:txBody>
      </p:sp>
      <p:sp>
        <p:nvSpPr>
          <p:cNvPr id="4" name="Oval 3"/>
          <p:cNvSpPr/>
          <p:nvPr/>
        </p:nvSpPr>
        <p:spPr>
          <a:xfrm>
            <a:off x="1737360" y="2377440"/>
            <a:ext cx="2377440" cy="2377440"/>
          </a:xfrm>
          <a:prstGeom prst="ellipse">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9600" b="1" lang="ja-JP" altLang="en-US">
                <a:solidFill>
                  <a:srgbClr val="FFFFFF"/>
                </a:solidFill>
                <a:latin typeface="游ゴシック"/>
                <a:ea typeface="游ゴシック"/>
                <a:cs typeface="游ゴシック"/>
              </a:rPr>
              <a:t>勘</a:t>
            </a:r>
          </a:p>
        </p:txBody>
      </p:sp>
      <p:sp>
        <p:nvSpPr>
          <p:cNvPr id="5" name="TextBox 4"/>
          <p:cNvSpPr txBox="1"/>
          <p:nvPr/>
        </p:nvSpPr>
        <p:spPr>
          <a:xfrm>
            <a:off x="1463040" y="4983480"/>
            <a:ext cx="2926080" cy="457200"/>
          </a:xfrm>
          <a:prstGeom prst="rect">
            <a:avLst/>
          </a:prstGeom>
          <a:noFill/>
          <a:ln>
            <a:noFill/>
          </a:ln>
        </p:spPr>
        <p:txBody>
          <a:bodyPr wrap="square" anchor="t" lIns="50800" rIns="50800" tIns="25400" bIns="25400">
            <a:spAutoFit/>
          </a:bodyPr>
          <a:lstStyle/>
          <a:p>
            <a:pPr algn="ctr"/>
            <a:r>
              <a:rPr sz="1800" b="1" lang="ja-JP" altLang="en-US">
                <a:solidFill>
                  <a:srgbClr val="1F3A60"/>
                </a:solidFill>
                <a:latin typeface="游ゴシック"/>
                <a:ea typeface="游ゴシック"/>
                <a:cs typeface="游ゴシック"/>
              </a:rPr>
              <a:t>経験・勘に依存</a:t>
            </a:r>
          </a:p>
        </p:txBody>
      </p:sp>
      <p:sp>
        <p:nvSpPr>
          <p:cNvPr id="6" name="Isosceles Triangle 5"/>
          <p:cNvSpPr/>
          <p:nvPr/>
        </p:nvSpPr>
        <p:spPr>
          <a:xfrm>
            <a:off x="4160520" y="3063240"/>
            <a:ext cx="868680" cy="868680"/>
          </a:xfrm>
          <a:prstGeom prst="triangle">
            <a:avLst/>
          </a:prstGeom>
          <a:solidFill>
            <a:srgbClr val="F2B705"/>
          </a:solidFill>
          <a:ln w="1905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none" tIns="88900" bIns="0"/>
          <a:lstStyle/>
          <a:p>
            <a:pPr algn="ctr"/>
            <a:r>
              <a:rPr sz="1400" b="1" lang="ja-JP" altLang="en-US">
                <a:solidFill>
                  <a:srgbClr val="1A1A1A"/>
                </a:solidFill>
                <a:latin typeface="游ゴシック"/>
                <a:ea typeface="游ゴシック"/>
                <a:cs typeface="游ゴシック"/>
              </a:rPr>
              <a:t>！</a:t>
            </a:r>
          </a:p>
        </p:txBody>
      </p:sp>
      <p:cxnSp>
        <p:nvCxnSpPr>
          <p:cNvPr id="7" name="Connector 6"/>
          <p:cNvCxnSpPr/>
          <p:nvPr/>
        </p:nvCxnSpPr>
        <p:spPr>
          <a:xfrm>
            <a:off x="4297680" y="3566160"/>
            <a:ext cx="1188720" cy="0"/>
          </a:xfrm>
          <a:prstGeom prst="line">
            <a:avLst/>
          </a:prstGeom>
          <a:ln w="50800">
            <a:solidFill>
              <a:srgbClr val="E2231A"/>
            </a:solidFill>
            <a:tailEnd type="triangle" w="lg" len="lg"/>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715000" y="1874519"/>
            <a:ext cx="5943600" cy="960120"/>
          </a:xfrm>
          <a:prstGeom prst="rect">
            <a:avLst/>
          </a:prstGeom>
          <a:solidFill>
            <a:srgbClr val="F3F5F8"/>
          </a:solid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874519"/>
            <a:ext cx="128016" cy="96012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25896" y="1984247"/>
            <a:ext cx="5486400" cy="457200"/>
          </a:xfrm>
          <a:prstGeom prst="rect">
            <a:avLst/>
          </a:prstGeom>
          <a:noFill/>
          <a:ln>
            <a:noFill/>
          </a:ln>
        </p:spPr>
        <p:txBody>
          <a:bodyPr wrap="square" anchor="t" lIns="50800" rIns="50800" tIns="25400" bIns="25400">
            <a:spAutoFit/>
          </a:bodyPr>
          <a:lstStyle/>
          <a:p>
            <a:pPr algn="l"/>
            <a:r>
              <a:rPr sz="2000" b="1" lang="ja-JP" altLang="en-US">
                <a:solidFill>
                  <a:srgbClr val="1A1A1A"/>
                </a:solidFill>
                <a:latin typeface="游ゴシック"/>
                <a:ea typeface="游ゴシック"/>
                <a:cs typeface="游ゴシック"/>
              </a:rPr>
              <a:t>属人的</a:t>
            </a:r>
          </a:p>
        </p:txBody>
      </p:sp>
      <p:sp>
        <p:nvSpPr>
          <p:cNvPr id="11" name="TextBox 10"/>
          <p:cNvSpPr txBox="1"/>
          <p:nvPr/>
        </p:nvSpPr>
        <p:spPr>
          <a:xfrm>
            <a:off x="6025896" y="2404871"/>
            <a:ext cx="5486400" cy="365760"/>
          </a:xfrm>
          <a:prstGeom prst="rect">
            <a:avLst/>
          </a:prstGeom>
          <a:noFill/>
          <a:ln>
            <a:noFill/>
          </a:ln>
        </p:spPr>
        <p:txBody>
          <a:bodyPr wrap="square" anchor="t" lIns="50800" rIns="50800" tIns="25400" bIns="25400">
            <a:spAutoFit/>
          </a:bodyPr>
          <a:lstStyle/>
          <a:p>
            <a:pPr algn="l"/>
            <a:r>
              <a:rPr sz="1300" b="0" lang="ja-JP" altLang="en-US">
                <a:solidFill>
                  <a:srgbClr val="5E5E5E"/>
                </a:solidFill>
                <a:latin typeface="游ゴシック"/>
                <a:ea typeface="游ゴシック"/>
                <a:cs typeface="游ゴシック"/>
              </a:rPr>
              <a:t>教える人で内容が変わる</a:t>
            </a:r>
          </a:p>
        </p:txBody>
      </p:sp>
      <p:sp>
        <p:nvSpPr>
          <p:cNvPr id="12" name="Rectangle 11"/>
          <p:cNvSpPr/>
          <p:nvPr/>
        </p:nvSpPr>
        <p:spPr>
          <a:xfrm>
            <a:off x="5715000" y="3108959"/>
            <a:ext cx="5943600" cy="960120"/>
          </a:xfrm>
          <a:prstGeom prst="rect">
            <a:avLst/>
          </a:prstGeom>
          <a:solidFill>
            <a:srgbClr val="F3F5F8"/>
          </a:solid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15000" y="3108959"/>
            <a:ext cx="128016" cy="96012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25896" y="3218687"/>
            <a:ext cx="5486400" cy="457200"/>
          </a:xfrm>
          <a:prstGeom prst="rect">
            <a:avLst/>
          </a:prstGeom>
          <a:noFill/>
          <a:ln>
            <a:noFill/>
          </a:ln>
        </p:spPr>
        <p:txBody>
          <a:bodyPr wrap="square" anchor="t" lIns="50800" rIns="50800" tIns="25400" bIns="25400">
            <a:spAutoFit/>
          </a:bodyPr>
          <a:lstStyle/>
          <a:p>
            <a:pPr algn="l"/>
            <a:r>
              <a:rPr sz="2000" b="1" lang="ja-JP" altLang="en-US">
                <a:solidFill>
                  <a:srgbClr val="1A1A1A"/>
                </a:solidFill>
                <a:latin typeface="游ゴシック"/>
                <a:ea typeface="游ゴシック"/>
                <a:cs typeface="游ゴシック"/>
              </a:rPr>
              <a:t>再現性がない</a:t>
            </a:r>
          </a:p>
        </p:txBody>
      </p:sp>
      <p:sp>
        <p:nvSpPr>
          <p:cNvPr id="15" name="TextBox 14"/>
          <p:cNvSpPr txBox="1"/>
          <p:nvPr/>
        </p:nvSpPr>
        <p:spPr>
          <a:xfrm>
            <a:off x="6025896" y="3639311"/>
            <a:ext cx="5486400" cy="365760"/>
          </a:xfrm>
          <a:prstGeom prst="rect">
            <a:avLst/>
          </a:prstGeom>
          <a:noFill/>
          <a:ln>
            <a:noFill/>
          </a:ln>
        </p:spPr>
        <p:txBody>
          <a:bodyPr wrap="square" anchor="t" lIns="50800" rIns="50800" tIns="25400" bIns="25400">
            <a:spAutoFit/>
          </a:bodyPr>
          <a:lstStyle/>
          <a:p>
            <a:pPr algn="l"/>
            <a:r>
              <a:rPr sz="1300" b="0" lang="ja-JP" altLang="en-US">
                <a:solidFill>
                  <a:srgbClr val="5E5E5E"/>
                </a:solidFill>
                <a:latin typeface="游ゴシック"/>
                <a:ea typeface="游ゴシック"/>
                <a:cs typeface="游ゴシック"/>
              </a:rPr>
              <a:t>同じ品質を保てない</a:t>
            </a:r>
          </a:p>
        </p:txBody>
      </p:sp>
      <p:sp>
        <p:nvSpPr>
          <p:cNvPr id="16" name="Rectangle 15"/>
          <p:cNvSpPr/>
          <p:nvPr/>
        </p:nvSpPr>
        <p:spPr>
          <a:xfrm>
            <a:off x="5715000" y="4343399"/>
            <a:ext cx="5943600" cy="960120"/>
          </a:xfrm>
          <a:prstGeom prst="rect">
            <a:avLst/>
          </a:prstGeom>
          <a:solidFill>
            <a:srgbClr val="F3F5F8"/>
          </a:solidFill>
          <a:ln w="254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15000" y="4343399"/>
            <a:ext cx="128016" cy="96012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25896" y="4453127"/>
            <a:ext cx="5486400" cy="457200"/>
          </a:xfrm>
          <a:prstGeom prst="rect">
            <a:avLst/>
          </a:prstGeom>
          <a:noFill/>
          <a:ln>
            <a:noFill/>
          </a:ln>
        </p:spPr>
        <p:txBody>
          <a:bodyPr wrap="square" anchor="t" lIns="50800" rIns="50800" tIns="25400" bIns="25400">
            <a:spAutoFit/>
          </a:bodyPr>
          <a:lstStyle/>
          <a:p>
            <a:pPr algn="l"/>
            <a:r>
              <a:rPr sz="2000" b="1" lang="ja-JP" altLang="en-US">
                <a:solidFill>
                  <a:srgbClr val="1A1A1A"/>
                </a:solidFill>
                <a:latin typeface="游ゴシック"/>
                <a:ea typeface="游ゴシック"/>
                <a:cs typeface="游ゴシック"/>
              </a:rPr>
              <a:t>更新が遅い</a:t>
            </a:r>
          </a:p>
        </p:txBody>
      </p:sp>
      <p:sp>
        <p:nvSpPr>
          <p:cNvPr id="19" name="TextBox 18"/>
          <p:cNvSpPr txBox="1"/>
          <p:nvPr/>
        </p:nvSpPr>
        <p:spPr>
          <a:xfrm>
            <a:off x="6025896" y="4873751"/>
            <a:ext cx="5486400" cy="365760"/>
          </a:xfrm>
          <a:prstGeom prst="rect">
            <a:avLst/>
          </a:prstGeom>
          <a:noFill/>
          <a:ln>
            <a:noFill/>
          </a:ln>
        </p:spPr>
        <p:txBody>
          <a:bodyPr wrap="square" anchor="t" lIns="50800" rIns="50800" tIns="25400" bIns="25400">
            <a:spAutoFit/>
          </a:bodyPr>
          <a:lstStyle/>
          <a:p>
            <a:pPr algn="l"/>
            <a:r>
              <a:rPr sz="1300" b="0" lang="ja-JP" altLang="en-US">
                <a:solidFill>
                  <a:srgbClr val="5E5E5E"/>
                </a:solidFill>
                <a:latin typeface="游ゴシック"/>
                <a:ea typeface="游ゴシック"/>
                <a:cs typeface="游ゴシック"/>
              </a:rPr>
              <a:t>最新の事故に追いつけない</a:t>
            </a:r>
          </a:p>
        </p:txBody>
      </p:sp>
      <p:sp>
        <p:nvSpPr>
          <p:cNvPr id="20" name="TextBox 19"/>
          <p:cNvSpPr txBox="1"/>
          <p:nvPr/>
        </p:nvSpPr>
        <p:spPr>
          <a:xfrm>
            <a:off x="548640" y="5760720"/>
            <a:ext cx="11064240" cy="457200"/>
          </a:xfrm>
          <a:prstGeom prst="rect">
            <a:avLst/>
          </a:prstGeom>
          <a:noFill/>
          <a:ln>
            <a:noFill/>
          </a:ln>
        </p:spPr>
        <p:txBody>
          <a:bodyPr wrap="square" anchor="t" lIns="50800" rIns="50800" tIns="25400" bIns="25400">
            <a:spAutoFit/>
          </a:bodyPr>
          <a:lstStyle/>
          <a:p>
            <a:pPr algn="l"/>
            <a:r>
              <a:rPr sz="1500" b="1" lang="ja-JP" altLang="en-US">
                <a:solidFill>
                  <a:srgbClr val="1F3A60"/>
                </a:solidFill>
                <a:latin typeface="游ゴシック"/>
                <a:ea typeface="游ゴシック"/>
                <a:cs typeface="游ゴシック"/>
              </a:rPr>
              <a:t>→ 仕組みで支える、科学的な安全教育へ。</a:t>
            </a:r>
          </a:p>
        </p:txBody>
      </p:sp>
      <p:sp>
        <p:nvSpPr>
          <p:cNvPr id="21" name="TextBox 20"/>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22" name="TextBox 21"/>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481328" cy="384048"/>
          </a:xfrm>
          <a:prstGeom prst="rect">
            <a:avLst/>
          </a:prstGeom>
          <a:solidFill>
            <a:srgbClr val="1F3A60"/>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解決アプローチ</a:t>
            </a:r>
          </a:p>
        </p:txBody>
      </p:sp>
      <p:pic>
        <p:nvPicPr>
          <p:cNvPr id="3" name="Picture 2" descr="prop_approach_flow.png"/>
          <p:cNvPicPr>
            <a:picLocks noChangeAspect="1"/>
          </p:cNvPicPr>
          <p:nvPr/>
        </p:nvPicPr>
        <p:blipFill>
          <a:blip r:embed="rId2"/>
          <a:stretch>
            <a:fillRect/>
          </a:stretch>
        </p:blipFill>
        <p:spPr>
          <a:xfrm>
            <a:off x="548640" y="1784726"/>
            <a:ext cx="11091672" cy="3105668"/>
          </a:xfrm>
          <a:prstGeom prst="rect">
            <a:avLst/>
          </a:prstGeom>
        </p:spPr>
      </p:pic>
      <p:sp>
        <p:nvSpPr>
          <p:cNvPr id="4" name="TextBox 3"/>
          <p:cNvSpPr txBox="1"/>
          <p:nvPr/>
        </p:nvSpPr>
        <p:spPr>
          <a:xfrm>
            <a:off x="548640" y="5760720"/>
            <a:ext cx="11064240" cy="457200"/>
          </a:xfrm>
          <a:prstGeom prst="rect">
            <a:avLst/>
          </a:prstGeom>
          <a:noFill/>
          <a:ln>
            <a:noFill/>
          </a:ln>
        </p:spPr>
        <p:txBody>
          <a:bodyPr wrap="square" anchor="t" lIns="50800" rIns="50800" tIns="25400" bIns="25400">
            <a:spAutoFit/>
          </a:bodyPr>
          <a:lstStyle/>
          <a:p>
            <a:pPr algn="l"/>
            <a:r>
              <a:rPr sz="1400" b="0" lang="ja-JP" altLang="en-US">
                <a:solidFill>
                  <a:srgbClr val="5E5E5E"/>
                </a:solidFill>
                <a:latin typeface="游ゴシック"/>
                <a:ea typeface="游ゴシック"/>
                <a:cs typeface="游ゴシック"/>
              </a:rPr>
              <a:t>分析 → 危険の科学的特定 → 教材化 → AIで量産。属人化せず、速く・安く。</a:t>
            </a:r>
          </a:p>
        </p:txBody>
      </p:sp>
      <p:sp>
        <p:nvSpPr>
          <p:cNvPr id="5" name="TextBox 4"/>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6" name="TextBox 5"/>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335024" cy="384048"/>
          </a:xfrm>
          <a:prstGeom prst="rect">
            <a:avLst/>
          </a:prstGeom>
          <a:solidFill>
            <a:srgbClr val="1F3A60"/>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データ分析①</a:t>
            </a:r>
          </a:p>
        </p:txBody>
      </p:sp>
      <p:sp>
        <p:nvSpPr>
          <p:cNvPr id="3" name="TextBox 2"/>
          <p:cNvSpPr txBox="1"/>
          <p:nvPr/>
        </p:nvSpPr>
        <p:spPr>
          <a:xfrm>
            <a:off x="2112264" y="384048"/>
            <a:ext cx="8961120" cy="384048"/>
          </a:xfrm>
          <a:prstGeom prst="rect">
            <a:avLst/>
          </a:prstGeom>
          <a:noFill/>
          <a:ln>
            <a:noFill/>
          </a:ln>
        </p:spPr>
        <p:txBody>
          <a:bodyPr wrap="square" anchor="ctr" lIns="50800" rIns="50800" tIns="25400" bIns="25400">
            <a:spAutoFit/>
          </a:bodyPr>
          <a:lstStyle/>
          <a:p>
            <a:pPr algn="l"/>
            <a:r>
              <a:rPr sz="2000" b="1" lang="ja-JP" altLang="en-US">
                <a:solidFill>
                  <a:srgbClr val="1A1A1A"/>
                </a:solidFill>
                <a:latin typeface="游ゴシック"/>
                <a:ea typeface="游ゴシック"/>
                <a:cs typeface="游ゴシック"/>
              </a:rPr>
              <a:t>約</a:t>
            </a:r>
            <a:r>
              <a:rPr sz="2600" b="1" lang="ja-JP" altLang="en-US">
                <a:solidFill>
                  <a:srgbClr val="E2231A"/>
                </a:solidFill>
                <a:latin typeface="游ゴシック"/>
                <a:ea typeface="游ゴシック"/>
                <a:cs typeface="游ゴシック"/>
              </a:rPr>
              <a:t>42万件</a:t>
            </a:r>
            <a:r>
              <a:rPr sz="2000" b="1" lang="ja-JP" altLang="en-US">
                <a:solidFill>
                  <a:srgbClr val="1A1A1A"/>
                </a:solidFill>
                <a:latin typeface="游ゴシック"/>
                <a:ea typeface="游ゴシック"/>
                <a:cs typeface="游ゴシック"/>
              </a:rPr>
              <a:t>のデータから、型別の危険を特定</a:t>
            </a:r>
          </a:p>
        </p:txBody>
      </p:sp>
      <p:sp>
        <p:nvSpPr>
          <p:cNvPr id="4" name="TextBox 3"/>
          <p:cNvSpPr txBox="1"/>
          <p:nvPr/>
        </p:nvSpPr>
        <p:spPr>
          <a:xfrm>
            <a:off x="566928" y="932688"/>
            <a:ext cx="11064240" cy="310896"/>
          </a:xfrm>
          <a:prstGeom prst="rect">
            <a:avLst/>
          </a:prstGeom>
          <a:noFill/>
          <a:ln>
            <a:noFill/>
          </a:ln>
        </p:spPr>
        <p:txBody>
          <a:bodyPr wrap="square" anchor="t" lIns="50800" rIns="50800" tIns="25400" bIns="25400">
            <a:spAutoFit/>
          </a:bodyPr>
          <a:lstStyle/>
          <a:p>
            <a:pPr algn="l"/>
            <a:r>
              <a:rPr sz="1200" b="0" lang="ja-JP" altLang="en-US">
                <a:solidFill>
                  <a:srgbClr val="5E5E5E"/>
                </a:solidFill>
                <a:latin typeface="游ゴシック"/>
                <a:ea typeface="游ゴシック"/>
                <a:cs typeface="游ゴシック"/>
              </a:rPr>
              <a:t>死亡DB 1991–2018 ＋ 死傷DB 2006–2017 を走査して抽出</a:t>
            </a:r>
          </a:p>
        </p:txBody>
      </p:sp>
      <p:sp>
        <p:nvSpPr>
          <p:cNvPr id="5" name="Rectangle 4"/>
          <p:cNvSpPr/>
          <p:nvPr/>
        </p:nvSpPr>
        <p:spPr>
          <a:xfrm>
            <a:off x="566928" y="1335024"/>
            <a:ext cx="5285232" cy="42062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35024"/>
            <a:ext cx="5285232" cy="420624"/>
          </a:xfrm>
          <a:prstGeom prst="rect">
            <a:avLst/>
          </a:prstGeom>
          <a:noFill/>
          <a:ln>
            <a:noFill/>
          </a:ln>
        </p:spPr>
        <p:txBody>
          <a:bodyPr wrap="square" anchor="ctr" lIns="50800" rIns="50800" tIns="25400" bIns="25400">
            <a:spAutoFit/>
          </a:bodyPr>
          <a:lstStyle/>
          <a:p>
            <a:pPr algn="ctr"/>
            <a:r>
              <a:rPr sz="1500" b="1" lang="ja-JP" altLang="en-US">
                <a:solidFill>
                  <a:srgbClr val="FFFFFF"/>
                </a:solidFill>
                <a:latin typeface="游ゴシック"/>
                <a:ea typeface="游ゴシック"/>
                <a:cs typeface="游ゴシック"/>
              </a:rPr>
              <a:t>TGL（計 1,878件）</a:t>
            </a:r>
          </a:p>
        </p:txBody>
      </p:sp>
      <p:sp>
        <p:nvSpPr>
          <p:cNvPr id="7" name="Rectangle 6"/>
          <p:cNvSpPr/>
          <p:nvPr/>
        </p:nvSpPr>
        <p:spPr>
          <a:xfrm>
            <a:off x="6327648" y="1335024"/>
            <a:ext cx="5285232" cy="42062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1335024"/>
            <a:ext cx="5285232" cy="420624"/>
          </a:xfrm>
          <a:prstGeom prst="rect">
            <a:avLst/>
          </a:prstGeom>
          <a:noFill/>
          <a:ln>
            <a:noFill/>
          </a:ln>
        </p:spPr>
        <p:txBody>
          <a:bodyPr wrap="square" anchor="ctr" lIns="50800" rIns="50800" tIns="25400" bIns="25400">
            <a:spAutoFit/>
          </a:bodyPr>
          <a:lstStyle/>
          <a:p>
            <a:pPr algn="ctr"/>
            <a:r>
              <a:rPr sz="1500" b="1" lang="ja-JP" altLang="en-US">
                <a:solidFill>
                  <a:srgbClr val="FFFFFF"/>
                </a:solidFill>
                <a:latin typeface="游ゴシック"/>
                <a:ea typeface="游ゴシック"/>
                <a:cs typeface="游ゴシック"/>
              </a:rPr>
              <a:t>高所作業車（計 1,149件）</a:t>
            </a:r>
          </a:p>
        </p:txBody>
      </p:sp>
      <p:pic>
        <p:nvPicPr>
          <p:cNvPr id="9" name="Picture 8" descr="fig_tgl_type_rank.png"/>
          <p:cNvPicPr>
            <a:picLocks noChangeAspect="1"/>
          </p:cNvPicPr>
          <p:nvPr/>
        </p:nvPicPr>
        <p:blipFill>
          <a:blip r:embed="rId2"/>
          <a:stretch>
            <a:fillRect/>
          </a:stretch>
        </p:blipFill>
        <p:spPr>
          <a:xfrm>
            <a:off x="1057672" y="1828800"/>
            <a:ext cx="4303743" cy="3749039"/>
          </a:xfrm>
          <a:prstGeom prst="rect">
            <a:avLst/>
          </a:prstGeom>
        </p:spPr>
      </p:pic>
      <p:pic>
        <p:nvPicPr>
          <p:cNvPr id="10" name="Picture 9" descr="fig_aerial_type_rank.png"/>
          <p:cNvPicPr>
            <a:picLocks noChangeAspect="1"/>
          </p:cNvPicPr>
          <p:nvPr/>
        </p:nvPicPr>
        <p:blipFill>
          <a:blip r:embed="rId3"/>
          <a:stretch>
            <a:fillRect/>
          </a:stretch>
        </p:blipFill>
        <p:spPr>
          <a:xfrm>
            <a:off x="7175511" y="1828800"/>
            <a:ext cx="3589505" cy="3749039"/>
          </a:xfrm>
          <a:prstGeom prst="rect">
            <a:avLst/>
          </a:prstGeom>
        </p:spPr>
      </p:pic>
      <p:sp>
        <p:nvSpPr>
          <p:cNvPr id="11" name="Rectangle 10"/>
          <p:cNvSpPr/>
          <p:nvPr/>
        </p:nvSpPr>
        <p:spPr>
          <a:xfrm>
            <a:off x="566928" y="5724144"/>
            <a:ext cx="11045952" cy="512064"/>
          </a:xfrm>
          <a:prstGeom prst="rect">
            <a:avLst/>
          </a:prstGeom>
          <a:solidFill>
            <a:srgbClr val="F3F5F8"/>
          </a:solidFill>
          <a:ln w="19050">
            <a:solidFill>
              <a:srgbClr val="E22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24144"/>
            <a:ext cx="10789920" cy="512064"/>
          </a:xfrm>
          <a:prstGeom prst="rect">
            <a:avLst/>
          </a:prstGeom>
          <a:noFill/>
          <a:ln>
            <a:noFill/>
          </a:ln>
        </p:spPr>
        <p:txBody>
          <a:bodyPr wrap="square" anchor="ctr" lIns="50800" rIns="50800" tIns="25400" bIns="25400">
            <a:spAutoFit/>
          </a:bodyPr>
          <a:lstStyle/>
          <a:p>
            <a:pPr algn="l"/>
            <a:r>
              <a:rPr sz="1600" b="1" lang="ja-JP" altLang="en-US">
                <a:solidFill>
                  <a:srgbClr val="1A1A1A"/>
                </a:solidFill>
                <a:latin typeface="游ゴシック"/>
                <a:ea typeface="游ゴシック"/>
                <a:cs typeface="游ゴシック"/>
              </a:rPr>
              <a:t>TGL＝</a:t>
            </a:r>
            <a:r>
              <a:rPr sz="1600" b="1" lang="ja-JP" altLang="en-US">
                <a:solidFill>
                  <a:srgbClr val="E2231A"/>
                </a:solidFill>
                <a:latin typeface="游ゴシック"/>
                <a:ea typeface="游ゴシック"/>
                <a:cs typeface="游ゴシック"/>
              </a:rPr>
              <a:t>はさまれ最多 30.9%</a:t>
            </a:r>
            <a:r>
              <a:rPr sz="1600" b="1" lang="ja-JP" altLang="en-US">
                <a:solidFill>
                  <a:srgbClr val="1A1A1A"/>
                </a:solidFill>
                <a:latin typeface="游ゴシック"/>
                <a:ea typeface="游ゴシック"/>
                <a:cs typeface="游ゴシック"/>
              </a:rPr>
              <a:t>／高所＝</a:t>
            </a:r>
            <a:r>
              <a:rPr sz="1600" b="1" lang="ja-JP" altLang="en-US">
                <a:solidFill>
                  <a:srgbClr val="E2231A"/>
                </a:solidFill>
                <a:latin typeface="游ゴシック"/>
                <a:ea typeface="游ゴシック"/>
                <a:cs typeface="游ゴシック"/>
              </a:rPr>
              <a:t>墜落最多 34.1%</a:t>
            </a:r>
          </a:p>
        </p:txBody>
      </p:sp>
      <p:sp>
        <p:nvSpPr>
          <p:cNvPr id="13" name="TextBox 12"/>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14" name="TextBox 13"/>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335024" cy="384048"/>
          </a:xfrm>
          <a:prstGeom prst="rect">
            <a:avLst/>
          </a:prstGeom>
          <a:solidFill>
            <a:srgbClr val="1F3A60"/>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データ分析②</a:t>
            </a:r>
          </a:p>
        </p:txBody>
      </p:sp>
      <p:sp>
        <p:nvSpPr>
          <p:cNvPr id="3" name="TextBox 2"/>
          <p:cNvSpPr txBox="1"/>
          <p:nvPr/>
        </p:nvSpPr>
        <p:spPr>
          <a:xfrm>
            <a:off x="2112264" y="384048"/>
            <a:ext cx="8961120" cy="384048"/>
          </a:xfrm>
          <a:prstGeom prst="rect">
            <a:avLst/>
          </a:prstGeom>
          <a:noFill/>
          <a:ln>
            <a:noFill/>
          </a:ln>
        </p:spPr>
        <p:txBody>
          <a:bodyPr wrap="square" anchor="ctr" lIns="50800" rIns="50800" tIns="25400" bIns="25400">
            <a:spAutoFit/>
          </a:bodyPr>
          <a:lstStyle/>
          <a:p>
            <a:pPr algn="l"/>
            <a:r>
              <a:rPr sz="2400" b="1" lang="ja-JP" altLang="en-US">
                <a:solidFill>
                  <a:srgbClr val="1A1A1A"/>
                </a:solidFill>
                <a:latin typeface="游ゴシック"/>
                <a:ea typeface="游ゴシック"/>
                <a:cs typeface="游ゴシック"/>
              </a:rPr>
              <a:t>死亡と死傷の差 ＝ 守るべき急所</a:t>
            </a:r>
          </a:p>
        </p:txBody>
      </p:sp>
      <p:sp>
        <p:nvSpPr>
          <p:cNvPr id="4" name="Rectangle 3"/>
          <p:cNvSpPr/>
          <p:nvPr/>
        </p:nvSpPr>
        <p:spPr>
          <a:xfrm>
            <a:off x="566928" y="1188720"/>
            <a:ext cx="5760720" cy="42062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188720"/>
            <a:ext cx="5760720" cy="420624"/>
          </a:xfrm>
          <a:prstGeom prst="rect">
            <a:avLst/>
          </a:prstGeom>
          <a:noFill/>
          <a:ln>
            <a:noFill/>
          </a:ln>
        </p:spPr>
        <p:txBody>
          <a:bodyPr wrap="square" anchor="ctr" lIns="50800" rIns="50800" tIns="25400" bIns="25400">
            <a:spAutoFit/>
          </a:bodyPr>
          <a:lstStyle/>
          <a:p>
            <a:pPr algn="ctr"/>
            <a:r>
              <a:rPr sz="1500" b="1" lang="ja-JP" altLang="en-US">
                <a:solidFill>
                  <a:srgbClr val="FFFFFF"/>
                </a:solidFill>
                <a:latin typeface="游ゴシック"/>
                <a:ea typeface="游ゴシック"/>
                <a:cs typeface="游ゴシック"/>
              </a:rPr>
              <a:t>死亡 vs 死傷（件数）</a:t>
            </a:r>
          </a:p>
        </p:txBody>
      </p:sp>
      <p:pic>
        <p:nvPicPr>
          <p:cNvPr id="6" name="Picture 5" descr="fig_death_vs_injury.png"/>
          <p:cNvPicPr>
            <a:picLocks noChangeAspect="1"/>
          </p:cNvPicPr>
          <p:nvPr/>
        </p:nvPicPr>
        <p:blipFill>
          <a:blip r:embed="rId2"/>
          <a:stretch>
            <a:fillRect/>
          </a:stretch>
        </p:blipFill>
        <p:spPr>
          <a:xfrm>
            <a:off x="566928" y="1776222"/>
            <a:ext cx="5760720" cy="3744468"/>
          </a:xfrm>
          <a:prstGeom prst="rect">
            <a:avLst/>
          </a:prstGeom>
        </p:spPr>
      </p:pic>
      <p:sp>
        <p:nvSpPr>
          <p:cNvPr id="7" name="Rectangle 6"/>
          <p:cNvSpPr/>
          <p:nvPr/>
        </p:nvSpPr>
        <p:spPr>
          <a:xfrm>
            <a:off x="6675120" y="1188720"/>
            <a:ext cx="4937760" cy="1335024"/>
          </a:xfrm>
          <a:prstGeom prst="rect">
            <a:avLst/>
          </a:prstGeom>
          <a:solidFill>
            <a:srgbClr val="F3F5F8"/>
          </a:solidFill>
          <a:ln w="25400">
            <a:solidFill>
              <a:srgbClr val="E22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75120" y="1188720"/>
            <a:ext cx="146304" cy="1335024"/>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59168" y="1280160"/>
            <a:ext cx="4370832" cy="786384"/>
          </a:xfrm>
          <a:prstGeom prst="rect">
            <a:avLst/>
          </a:prstGeom>
          <a:noFill/>
          <a:ln>
            <a:noFill/>
          </a:ln>
        </p:spPr>
        <p:txBody>
          <a:bodyPr wrap="square" anchor="ctr" lIns="50800" rIns="50800" tIns="25400" bIns="25400">
            <a:spAutoFit/>
          </a:bodyPr>
          <a:lstStyle/>
          <a:p>
            <a:pPr algn="l"/>
            <a:r>
              <a:rPr sz="4600" b="1" lang="ja-JP" altLang="en-US">
                <a:solidFill>
                  <a:srgbClr val="E2231A"/>
                </a:solidFill>
                <a:latin typeface="游ゴシック"/>
                <a:ea typeface="游ゴシック"/>
                <a:cs typeface="游ゴシック"/>
              </a:rPr>
              <a:t>約31</a:t>
            </a:r>
            <a:r>
              <a:rPr sz="1800" b="1" lang="ja-JP" altLang="en-US">
                <a:solidFill>
                  <a:srgbClr val="E2231A"/>
                </a:solidFill>
                <a:latin typeface="游ゴシック"/>
                <a:ea typeface="游ゴシック"/>
                <a:cs typeface="游ゴシック"/>
              </a:rPr>
              <a:t>%</a:t>
            </a:r>
          </a:p>
        </p:txBody>
      </p:sp>
      <p:sp>
        <p:nvSpPr>
          <p:cNvPr id="10" name="TextBox 9"/>
          <p:cNvSpPr txBox="1"/>
          <p:nvPr/>
        </p:nvSpPr>
        <p:spPr>
          <a:xfrm>
            <a:off x="7059168" y="2066544"/>
            <a:ext cx="4370832" cy="365760"/>
          </a:xfrm>
          <a:prstGeom prst="rect">
            <a:avLst/>
          </a:prstGeom>
          <a:noFill/>
          <a:ln>
            <a:noFill/>
          </a:ln>
        </p:spPr>
        <p:txBody>
          <a:bodyPr wrap="square" anchor="t" lIns="50800" rIns="50800" tIns="25400" bIns="25400">
            <a:spAutoFit/>
          </a:bodyPr>
          <a:lstStyle/>
          <a:p>
            <a:pPr algn="l"/>
            <a:r>
              <a:rPr sz="1400" b="1" lang="ja-JP" altLang="en-US">
                <a:solidFill>
                  <a:srgbClr val="1A1A1A"/>
                </a:solidFill>
                <a:latin typeface="游ゴシック"/>
                <a:ea typeface="游ゴシック"/>
                <a:cs typeface="游ゴシック"/>
              </a:rPr>
              <a:t>高所作業車の致死率</a:t>
            </a:r>
          </a:p>
        </p:txBody>
      </p:sp>
      <p:sp>
        <p:nvSpPr>
          <p:cNvPr id="11" name="TextBox 10"/>
          <p:cNvSpPr txBox="1"/>
          <p:nvPr/>
        </p:nvSpPr>
        <p:spPr>
          <a:xfrm>
            <a:off x="7059168" y="2404872"/>
            <a:ext cx="4370832" cy="292608"/>
          </a:xfrm>
          <a:prstGeom prst="rect">
            <a:avLst/>
          </a:prstGeom>
          <a:noFill/>
          <a:ln>
            <a:noFill/>
          </a:ln>
        </p:spPr>
        <p:txBody>
          <a:bodyPr wrap="square" anchor="t" lIns="50800" rIns="50800" tIns="25400" bIns="25400">
            <a:spAutoFit/>
          </a:bodyPr>
          <a:lstStyle/>
          <a:p>
            <a:pPr algn="l"/>
            <a:r>
              <a:rPr sz="1100" b="0" lang="ja-JP" altLang="en-US">
                <a:solidFill>
                  <a:srgbClr val="5E5E5E"/>
                </a:solidFill>
                <a:latin typeface="游ゴシック"/>
                <a:ea typeface="游ゴシック"/>
                <a:cs typeface="游ゴシック"/>
              </a:rPr>
              <a:t>死亡358 / 全1,149件</a:t>
            </a:r>
          </a:p>
        </p:txBody>
      </p:sp>
      <p:sp>
        <p:nvSpPr>
          <p:cNvPr id="12" name="Rectangle 11"/>
          <p:cNvSpPr/>
          <p:nvPr/>
        </p:nvSpPr>
        <p:spPr>
          <a:xfrm>
            <a:off x="6675120" y="2670048"/>
            <a:ext cx="4937760" cy="1335024"/>
          </a:xfrm>
          <a:prstGeom prst="rect">
            <a:avLst/>
          </a:prstGeom>
          <a:solidFill>
            <a:srgbClr val="F3F5F8"/>
          </a:solidFill>
          <a:ln w="25400">
            <a:solidFill>
              <a:srgbClr val="1F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75120" y="2670048"/>
            <a:ext cx="146304" cy="133502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59168" y="2761488"/>
            <a:ext cx="4370832" cy="786384"/>
          </a:xfrm>
          <a:prstGeom prst="rect">
            <a:avLst/>
          </a:prstGeom>
          <a:noFill/>
          <a:ln>
            <a:noFill/>
          </a:ln>
        </p:spPr>
        <p:txBody>
          <a:bodyPr wrap="square" anchor="ctr" lIns="50800" rIns="50800" tIns="25400" bIns="25400">
            <a:spAutoFit/>
          </a:bodyPr>
          <a:lstStyle/>
          <a:p>
            <a:pPr algn="l"/>
            <a:r>
              <a:rPr sz="4600" b="1" lang="ja-JP" altLang="en-US">
                <a:solidFill>
                  <a:srgbClr val="1F3A60"/>
                </a:solidFill>
                <a:latin typeface="游ゴシック"/>
                <a:ea typeface="游ゴシック"/>
                <a:cs typeface="游ゴシック"/>
              </a:rPr>
              <a:t>約6</a:t>
            </a:r>
            <a:r>
              <a:rPr sz="1800" b="1" lang="ja-JP" altLang="en-US">
                <a:solidFill>
                  <a:srgbClr val="1F3A60"/>
                </a:solidFill>
                <a:latin typeface="游ゴシック"/>
                <a:ea typeface="游ゴシック"/>
                <a:cs typeface="游ゴシック"/>
              </a:rPr>
              <a:t>%</a:t>
            </a:r>
          </a:p>
        </p:txBody>
      </p:sp>
      <p:sp>
        <p:nvSpPr>
          <p:cNvPr id="15" name="TextBox 14"/>
          <p:cNvSpPr txBox="1"/>
          <p:nvPr/>
        </p:nvSpPr>
        <p:spPr>
          <a:xfrm>
            <a:off x="7059168" y="3547872"/>
            <a:ext cx="4370832" cy="365760"/>
          </a:xfrm>
          <a:prstGeom prst="rect">
            <a:avLst/>
          </a:prstGeom>
          <a:noFill/>
          <a:ln>
            <a:noFill/>
          </a:ln>
        </p:spPr>
        <p:txBody>
          <a:bodyPr wrap="square" anchor="t" lIns="50800" rIns="50800" tIns="25400" bIns="25400">
            <a:spAutoFit/>
          </a:bodyPr>
          <a:lstStyle/>
          <a:p>
            <a:pPr algn="l"/>
            <a:r>
              <a:rPr sz="1400" b="1" lang="ja-JP" altLang="en-US">
                <a:solidFill>
                  <a:srgbClr val="1A1A1A"/>
                </a:solidFill>
                <a:latin typeface="游ゴシック"/>
                <a:ea typeface="游ゴシック"/>
                <a:cs typeface="游ゴシック"/>
              </a:rPr>
              <a:t>TGLの致死率</a:t>
            </a:r>
          </a:p>
        </p:txBody>
      </p:sp>
      <p:sp>
        <p:nvSpPr>
          <p:cNvPr id="16" name="TextBox 15"/>
          <p:cNvSpPr txBox="1"/>
          <p:nvPr/>
        </p:nvSpPr>
        <p:spPr>
          <a:xfrm>
            <a:off x="7059168" y="3886200"/>
            <a:ext cx="4370832" cy="292608"/>
          </a:xfrm>
          <a:prstGeom prst="rect">
            <a:avLst/>
          </a:prstGeom>
          <a:noFill/>
          <a:ln>
            <a:noFill/>
          </a:ln>
        </p:spPr>
        <p:txBody>
          <a:bodyPr wrap="square" anchor="t" lIns="50800" rIns="50800" tIns="25400" bIns="25400">
            <a:spAutoFit/>
          </a:bodyPr>
          <a:lstStyle/>
          <a:p>
            <a:pPr algn="l"/>
            <a:r>
              <a:rPr sz="1100" b="0" lang="ja-JP" altLang="en-US">
                <a:solidFill>
                  <a:srgbClr val="5E5E5E"/>
                </a:solidFill>
                <a:latin typeface="游ゴシック"/>
                <a:ea typeface="游ゴシック"/>
                <a:cs typeface="游ゴシック"/>
              </a:rPr>
              <a:t>死亡121 / 全1,878件</a:t>
            </a:r>
          </a:p>
        </p:txBody>
      </p:sp>
      <p:sp>
        <p:nvSpPr>
          <p:cNvPr id="17" name="Rectangle 16"/>
          <p:cNvSpPr/>
          <p:nvPr/>
        </p:nvSpPr>
        <p:spPr>
          <a:xfrm>
            <a:off x="6675120" y="4151376"/>
            <a:ext cx="4937760" cy="1463040"/>
          </a:xfrm>
          <a:prstGeom prst="rect">
            <a:avLst/>
          </a:prstGeom>
          <a:solidFill>
            <a:srgbClr val="F3F5F8"/>
          </a:solidFill>
          <a:ln w="25400">
            <a:solidFill>
              <a:srgbClr val="E22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75120" y="4151376"/>
            <a:ext cx="146304" cy="1463040"/>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9168" y="4242816"/>
            <a:ext cx="4370832" cy="786384"/>
          </a:xfrm>
          <a:prstGeom prst="rect">
            <a:avLst/>
          </a:prstGeom>
          <a:noFill/>
          <a:ln>
            <a:noFill/>
          </a:ln>
        </p:spPr>
        <p:txBody>
          <a:bodyPr wrap="square" anchor="ctr" lIns="50800" rIns="50800" tIns="25400" bIns="25400">
            <a:spAutoFit/>
          </a:bodyPr>
          <a:lstStyle/>
          <a:p>
            <a:pPr algn="l"/>
            <a:r>
              <a:rPr sz="4600" b="1" lang="ja-JP" altLang="en-US">
                <a:solidFill>
                  <a:srgbClr val="E2231A"/>
                </a:solidFill>
                <a:latin typeface="游ゴシック"/>
                <a:ea typeface="游ゴシック"/>
                <a:cs typeface="游ゴシック"/>
              </a:rPr>
              <a:t>52.9</a:t>
            </a:r>
            <a:r>
              <a:rPr sz="1800" b="1" lang="ja-JP" altLang="en-US">
                <a:solidFill>
                  <a:srgbClr val="E2231A"/>
                </a:solidFill>
                <a:latin typeface="游ゴシック"/>
                <a:ea typeface="游ゴシック"/>
                <a:cs typeface="游ゴシック"/>
              </a:rPr>
              <a:t>%</a:t>
            </a:r>
          </a:p>
        </p:txBody>
      </p:sp>
      <p:sp>
        <p:nvSpPr>
          <p:cNvPr id="20" name="TextBox 19"/>
          <p:cNvSpPr txBox="1"/>
          <p:nvPr/>
        </p:nvSpPr>
        <p:spPr>
          <a:xfrm>
            <a:off x="7059168" y="5029200"/>
            <a:ext cx="4370832" cy="365760"/>
          </a:xfrm>
          <a:prstGeom prst="rect">
            <a:avLst/>
          </a:prstGeom>
          <a:noFill/>
          <a:ln>
            <a:noFill/>
          </a:ln>
        </p:spPr>
        <p:txBody>
          <a:bodyPr wrap="square" anchor="t" lIns="50800" rIns="50800" tIns="25400" bIns="25400">
            <a:spAutoFit/>
          </a:bodyPr>
          <a:lstStyle/>
          <a:p>
            <a:pPr algn="l"/>
            <a:r>
              <a:rPr sz="1400" b="1" lang="ja-JP" altLang="en-US">
                <a:solidFill>
                  <a:srgbClr val="1A1A1A"/>
                </a:solidFill>
                <a:latin typeface="游ゴシック"/>
                <a:ea typeface="游ゴシック"/>
                <a:cs typeface="游ゴシック"/>
              </a:rPr>
              <a:t>TGL死亡は「はさまれ」が過半</a:t>
            </a:r>
          </a:p>
        </p:txBody>
      </p:sp>
      <p:sp>
        <p:nvSpPr>
          <p:cNvPr id="21" name="TextBox 20"/>
          <p:cNvSpPr txBox="1"/>
          <p:nvPr/>
        </p:nvSpPr>
        <p:spPr>
          <a:xfrm>
            <a:off x="7059168" y="5367528"/>
            <a:ext cx="4370832" cy="292608"/>
          </a:xfrm>
          <a:prstGeom prst="rect">
            <a:avLst/>
          </a:prstGeom>
          <a:noFill/>
          <a:ln>
            <a:noFill/>
          </a:ln>
        </p:spPr>
        <p:txBody>
          <a:bodyPr wrap="square" anchor="t" lIns="50800" rIns="50800" tIns="25400" bIns="25400">
            <a:spAutoFit/>
          </a:bodyPr>
          <a:lstStyle/>
          <a:p>
            <a:pPr algn="l"/>
            <a:r>
              <a:rPr sz="1100" b="0" lang="ja-JP" altLang="en-US">
                <a:solidFill>
                  <a:srgbClr val="5E5E5E"/>
                </a:solidFill>
                <a:latin typeface="游ゴシック"/>
                <a:ea typeface="游ゴシック"/>
                <a:cs typeface="游ゴシック"/>
              </a:rPr>
              <a:t>死亡121件中 64件</a:t>
            </a:r>
          </a:p>
        </p:txBody>
      </p:sp>
      <p:sp>
        <p:nvSpPr>
          <p:cNvPr id="22" name="Rectangle 21"/>
          <p:cNvSpPr/>
          <p:nvPr/>
        </p:nvSpPr>
        <p:spPr>
          <a:xfrm>
            <a:off x="566928" y="5742432"/>
            <a:ext cx="11045952" cy="493776"/>
          </a:xfrm>
          <a:prstGeom prst="rect">
            <a:avLst/>
          </a:prstGeom>
          <a:solidFill>
            <a:srgbClr val="F3F5F8"/>
          </a:solidFill>
          <a:ln w="1905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742432"/>
            <a:ext cx="10789920" cy="493776"/>
          </a:xfrm>
          <a:prstGeom prst="rect">
            <a:avLst/>
          </a:prstGeom>
          <a:noFill/>
          <a:ln>
            <a:noFill/>
          </a:ln>
        </p:spPr>
        <p:txBody>
          <a:bodyPr wrap="square" anchor="ctr" lIns="50800" rIns="50800" tIns="25400" bIns="25400">
            <a:spAutoFit/>
          </a:bodyPr>
          <a:lstStyle/>
          <a:p>
            <a:pPr algn="l"/>
            <a:r>
              <a:rPr sz="1500" b="1" lang="ja-JP" altLang="en-US">
                <a:solidFill>
                  <a:srgbClr val="1A1A1A"/>
                </a:solidFill>
                <a:latin typeface="游ゴシック"/>
                <a:ea typeface="游ゴシック"/>
                <a:cs typeface="游ゴシック"/>
              </a:rPr>
              <a:t>高所＝</a:t>
            </a:r>
            <a:r>
              <a:rPr sz="1500" b="1" lang="ja-JP" altLang="en-US">
                <a:solidFill>
                  <a:srgbClr val="E2231A"/>
                </a:solidFill>
                <a:latin typeface="游ゴシック"/>
                <a:ea typeface="游ゴシック"/>
                <a:cs typeface="游ゴシック"/>
              </a:rPr>
              <a:t>墜落で死ぬ</a:t>
            </a:r>
            <a:r>
              <a:rPr sz="1500" b="1" lang="ja-JP" altLang="en-US">
                <a:solidFill>
                  <a:srgbClr val="1A1A1A"/>
                </a:solidFill>
                <a:latin typeface="游ゴシック"/>
                <a:ea typeface="游ゴシック"/>
                <a:cs typeface="游ゴシック"/>
              </a:rPr>
              <a:t>／TGL＝</a:t>
            </a:r>
            <a:r>
              <a:rPr sz="1500" b="1" lang="ja-JP" altLang="en-US">
                <a:solidFill>
                  <a:srgbClr val="E2231A"/>
                </a:solidFill>
                <a:latin typeface="游ゴシック"/>
                <a:ea typeface="游ゴシック"/>
                <a:cs typeface="游ゴシック"/>
              </a:rPr>
              <a:t>はさまれで死ぬ</a:t>
            </a:r>
            <a:r>
              <a:rPr sz="1500" b="1" lang="ja-JP" altLang="en-US">
                <a:solidFill>
                  <a:srgbClr val="1A1A1A"/>
                </a:solidFill>
                <a:latin typeface="游ゴシック"/>
                <a:ea typeface="游ゴシック"/>
                <a:cs typeface="游ゴシック"/>
              </a:rPr>
              <a:t>。守る急所が違う。</a:t>
            </a:r>
          </a:p>
        </p:txBody>
      </p:sp>
      <p:sp>
        <p:nvSpPr>
          <p:cNvPr id="24" name="TextBox 23"/>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25" name="TextBox 24"/>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88720" cy="384048"/>
          </a:xfrm>
          <a:prstGeom prst="rect">
            <a:avLst/>
          </a:prstGeom>
          <a:solidFill>
            <a:srgbClr val="2E9E5B"/>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科学的対策</a:t>
            </a:r>
          </a:p>
        </p:txBody>
      </p:sp>
      <p:sp>
        <p:nvSpPr>
          <p:cNvPr id="3" name="TextBox 2"/>
          <p:cNvSpPr txBox="1"/>
          <p:nvPr/>
        </p:nvSpPr>
        <p:spPr>
          <a:xfrm>
            <a:off x="1874519" y="384048"/>
            <a:ext cx="9692640" cy="384048"/>
          </a:xfrm>
          <a:prstGeom prst="rect">
            <a:avLst/>
          </a:prstGeom>
          <a:noFill/>
          <a:ln>
            <a:noFill/>
          </a:ln>
        </p:spPr>
        <p:txBody>
          <a:bodyPr wrap="square" anchor="ctr" lIns="50800" rIns="50800" tIns="25400" bIns="25400">
            <a:spAutoFit/>
          </a:bodyPr>
          <a:lstStyle/>
          <a:p>
            <a:pPr algn="l"/>
            <a:r>
              <a:rPr sz="2200" b="1" lang="ja-JP" altLang="en-US">
                <a:solidFill>
                  <a:srgbClr val="1A1A1A"/>
                </a:solidFill>
                <a:latin typeface="游ゴシック"/>
                <a:ea typeface="游ゴシック"/>
                <a:cs typeface="游ゴシック"/>
              </a:rPr>
              <a:t>急所が違えば、</a:t>
            </a:r>
            <a:r>
              <a:rPr sz="2200" b="1" lang="ja-JP" altLang="en-US">
                <a:solidFill>
                  <a:srgbClr val="2E9E5B"/>
                </a:solidFill>
                <a:latin typeface="游ゴシック"/>
                <a:ea typeface="游ゴシック"/>
                <a:cs typeface="游ゴシック"/>
              </a:rPr>
              <a:t>打つ手</a:t>
            </a:r>
            <a:r>
              <a:rPr sz="2200" b="1" lang="ja-JP" altLang="en-US">
                <a:solidFill>
                  <a:srgbClr val="1A1A1A"/>
                </a:solidFill>
                <a:latin typeface="游ゴシック"/>
                <a:ea typeface="游ゴシック"/>
                <a:cs typeface="游ゴシック"/>
              </a:rPr>
              <a:t>も変わる</a:t>
            </a:r>
          </a:p>
        </p:txBody>
      </p:sp>
      <p:pic>
        <p:nvPicPr>
          <p:cNvPr id="4" name="Picture 3" descr="prop_measures_icons.png"/>
          <p:cNvPicPr>
            <a:picLocks noChangeAspect="1"/>
          </p:cNvPicPr>
          <p:nvPr/>
        </p:nvPicPr>
        <p:blipFill>
          <a:blip r:embed="rId2"/>
          <a:stretch>
            <a:fillRect/>
          </a:stretch>
        </p:blipFill>
        <p:spPr>
          <a:xfrm>
            <a:off x="548640" y="1195781"/>
            <a:ext cx="11091672" cy="3972661"/>
          </a:xfrm>
          <a:prstGeom prst="rect">
            <a:avLst/>
          </a:prstGeom>
        </p:spPr>
      </p:pic>
      <p:sp>
        <p:nvSpPr>
          <p:cNvPr id="5" name="Rectangle 4"/>
          <p:cNvSpPr/>
          <p:nvPr/>
        </p:nvSpPr>
        <p:spPr>
          <a:xfrm>
            <a:off x="566928" y="5413248"/>
            <a:ext cx="11045952" cy="713232"/>
          </a:xfrm>
          <a:prstGeom prst="rect">
            <a:avLst/>
          </a:prstGeom>
          <a:solidFill>
            <a:srgbClr val="F3F5F8"/>
          </a:solidFill>
          <a:ln w="1524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5413248"/>
            <a:ext cx="10698480" cy="713232"/>
          </a:xfrm>
          <a:prstGeom prst="rect">
            <a:avLst/>
          </a:prstGeom>
          <a:noFill/>
          <a:ln>
            <a:noFill/>
          </a:ln>
        </p:spPr>
        <p:txBody>
          <a:bodyPr wrap="square" anchor="ctr" lIns="50800" rIns="50800" tIns="25400" bIns="25400">
            <a:spAutoFit/>
          </a:bodyPr>
          <a:lstStyle/>
          <a:p>
            <a:pPr algn="l">
              <a:spcAft>
                <a:spcPts val="200"/>
              </a:spcAft>
            </a:pPr>
            <a:r>
              <a:rPr sz="1100" b="1" lang="ja-JP" altLang="en-US">
                <a:solidFill>
                  <a:srgbClr val="2E9E5B"/>
                </a:solidFill>
                <a:latin typeface="游ゴシック"/>
                <a:ea typeface="游ゴシック"/>
                <a:cs typeface="游ゴシック"/>
              </a:rPr>
              <a:t>根拠（安衛則）：</a:t>
            </a:r>
          </a:p>
          <a:p>
            <a:pPr algn="l"/>
            <a:r>
              <a:rPr sz="1100" b="0" lang="ja-JP" altLang="en-US">
                <a:solidFill>
                  <a:srgbClr val="5E5E5E"/>
                </a:solidFill>
                <a:latin typeface="游ゴシック"/>
                <a:ea typeface="游ゴシック"/>
                <a:cs typeface="游ゴシック"/>
              </a:rPr>
              <a:t>フルハーネス 6.75m超 着用義務／高所作業車 作業床10m以上 技能講習・未満 特別教育／TGL特別教育 学科4h＋実技2h</a:t>
            </a:r>
          </a:p>
        </p:txBody>
      </p:sp>
      <p:sp>
        <p:nvSpPr>
          <p:cNvPr id="7" name="TextBox 6"/>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8" name="TextBox 7"/>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335024" cy="384048"/>
          </a:xfrm>
          <a:prstGeom prst="rect">
            <a:avLst/>
          </a:prstGeom>
          <a:solidFill>
            <a:srgbClr val="E2231A"/>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自動化の価値</a:t>
            </a:r>
          </a:p>
        </p:txBody>
      </p:sp>
      <p:sp>
        <p:nvSpPr>
          <p:cNvPr id="3" name="TextBox 2"/>
          <p:cNvSpPr txBox="1"/>
          <p:nvPr/>
        </p:nvSpPr>
        <p:spPr>
          <a:xfrm>
            <a:off x="2112264" y="384048"/>
            <a:ext cx="8778240" cy="384048"/>
          </a:xfrm>
          <a:prstGeom prst="rect">
            <a:avLst/>
          </a:prstGeom>
          <a:noFill/>
          <a:ln>
            <a:noFill/>
          </a:ln>
        </p:spPr>
        <p:txBody>
          <a:bodyPr wrap="square" anchor="ctr" lIns="50800" rIns="50800" tIns="25400" bIns="25400">
            <a:spAutoFit/>
          </a:bodyPr>
          <a:lstStyle/>
          <a:p>
            <a:pPr algn="l"/>
            <a:r>
              <a:rPr sz="2200" b="1" lang="ja-JP" altLang="en-US">
                <a:solidFill>
                  <a:srgbClr val="1A1A1A"/>
                </a:solidFill>
                <a:latin typeface="游ゴシック"/>
                <a:ea typeface="游ゴシック"/>
                <a:cs typeface="游ゴシック"/>
              </a:rPr>
              <a:t>AIで事故事例教材を</a:t>
            </a:r>
            <a:r>
              <a:rPr sz="2200" b="1" lang="ja-JP" altLang="en-US">
                <a:solidFill>
                  <a:srgbClr val="E2231A"/>
                </a:solidFill>
                <a:latin typeface="游ゴシック"/>
                <a:ea typeface="游ゴシック"/>
                <a:cs typeface="游ゴシック"/>
              </a:rPr>
              <a:t>量産</a:t>
            </a:r>
          </a:p>
        </p:txBody>
      </p:sp>
      <p:pic>
        <p:nvPicPr>
          <p:cNvPr id="4" name="Picture 3" descr="prop_automation_compare.png"/>
          <p:cNvPicPr>
            <a:picLocks noChangeAspect="1"/>
          </p:cNvPicPr>
          <p:nvPr/>
        </p:nvPicPr>
        <p:blipFill>
          <a:blip r:embed="rId2"/>
          <a:stretch>
            <a:fillRect/>
          </a:stretch>
        </p:blipFill>
        <p:spPr>
          <a:xfrm>
            <a:off x="2907550" y="1078992"/>
            <a:ext cx="6364708" cy="2615184"/>
          </a:xfrm>
          <a:prstGeom prst="rect">
            <a:avLst/>
          </a:prstGeom>
        </p:spPr>
      </p:pic>
      <p:pic>
        <p:nvPicPr>
          <p:cNvPr id="5" name="Picture 4" descr="prop_value_icons.png"/>
          <p:cNvPicPr>
            <a:picLocks noChangeAspect="1"/>
          </p:cNvPicPr>
          <p:nvPr/>
        </p:nvPicPr>
        <p:blipFill>
          <a:blip r:embed="rId3"/>
          <a:stretch>
            <a:fillRect/>
          </a:stretch>
        </p:blipFill>
        <p:spPr>
          <a:xfrm>
            <a:off x="2570926" y="3822191"/>
            <a:ext cx="7037955" cy="2395728"/>
          </a:xfrm>
          <a:prstGeom prst="rect">
            <a:avLst/>
          </a:prstGeom>
        </p:spPr>
      </p:pic>
      <p:sp>
        <p:nvSpPr>
          <p:cNvPr id="6" name="TextBox 5"/>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7" name="TextBox 6"/>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481328" cy="384048"/>
          </a:xfrm>
          <a:prstGeom prst="rect">
            <a:avLst/>
          </a:prstGeom>
          <a:solidFill>
            <a:srgbClr val="1F3A60"/>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成果物サンプル</a:t>
            </a:r>
          </a:p>
        </p:txBody>
      </p:sp>
      <p:sp>
        <p:nvSpPr>
          <p:cNvPr id="3" name="TextBox 2"/>
          <p:cNvSpPr txBox="1"/>
          <p:nvPr/>
        </p:nvSpPr>
        <p:spPr>
          <a:xfrm>
            <a:off x="2331720" y="384048"/>
            <a:ext cx="9235440" cy="384048"/>
          </a:xfrm>
          <a:prstGeom prst="rect">
            <a:avLst/>
          </a:prstGeom>
          <a:noFill/>
          <a:ln>
            <a:noFill/>
          </a:ln>
        </p:spPr>
        <p:txBody>
          <a:bodyPr wrap="square" anchor="ctr" lIns="50800" rIns="50800" tIns="25400" bIns="25400">
            <a:spAutoFit/>
          </a:bodyPr>
          <a:lstStyle/>
          <a:p>
            <a:pPr algn="l"/>
            <a:r>
              <a:rPr sz="2200" b="1" lang="ja-JP" altLang="en-US">
                <a:solidFill>
                  <a:srgbClr val="1A1A1A"/>
                </a:solidFill>
                <a:latin typeface="游ゴシック"/>
                <a:ea typeface="游ゴシック"/>
                <a:cs typeface="游ゴシック"/>
              </a:rPr>
              <a:t>こういう教材が、</a:t>
            </a:r>
            <a:r>
              <a:rPr sz="2200" b="1" lang="ja-JP" altLang="en-US">
                <a:solidFill>
                  <a:srgbClr val="1F3A60"/>
                </a:solidFill>
                <a:latin typeface="游ゴシック"/>
                <a:ea typeface="游ゴシック"/>
                <a:cs typeface="游ゴシック"/>
              </a:rPr>
              <a:t>すぐ作れます</a:t>
            </a:r>
          </a:p>
        </p:txBody>
      </p:sp>
      <p:sp>
        <p:nvSpPr>
          <p:cNvPr id="4" name="Rectangle 3"/>
          <p:cNvSpPr/>
          <p:nvPr/>
        </p:nvSpPr>
        <p:spPr>
          <a:xfrm>
            <a:off x="566928" y="1207008"/>
            <a:ext cx="3611880" cy="4114800"/>
          </a:xfrm>
          <a:prstGeom prst="rect">
            <a:avLst/>
          </a:prstGeom>
          <a:solidFill>
            <a:srgbClr val="F3F5F8"/>
          </a:solidFill>
          <a:ln w="19050">
            <a:solidFill>
              <a:srgbClr val="1F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qual_table.png"/>
          <p:cNvPicPr>
            <a:picLocks noChangeAspect="1"/>
          </p:cNvPicPr>
          <p:nvPr/>
        </p:nvPicPr>
        <p:blipFill>
          <a:blip r:embed="rId2"/>
          <a:stretch>
            <a:fillRect/>
          </a:stretch>
        </p:blipFill>
        <p:spPr>
          <a:xfrm>
            <a:off x="685800" y="2045097"/>
            <a:ext cx="3374136" cy="1963133"/>
          </a:xfrm>
          <a:prstGeom prst="rect">
            <a:avLst/>
          </a:prstGeom>
          <a:ln w="9525">
            <a:solidFill>
              <a:srgbClr val="8A8A8A"/>
            </a:solidFill>
          </a:ln>
        </p:spPr>
      </p:pic>
      <p:sp>
        <p:nvSpPr>
          <p:cNvPr id="6" name="Rectangle 5"/>
          <p:cNvSpPr/>
          <p:nvPr/>
        </p:nvSpPr>
        <p:spPr>
          <a:xfrm>
            <a:off x="566928" y="4846320"/>
            <a:ext cx="3611880" cy="475488"/>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3611880" cy="475488"/>
          </a:xfrm>
          <a:prstGeom prst="rect">
            <a:avLst/>
          </a:prstGeom>
          <a:no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資格・装備 早見表</a:t>
            </a:r>
          </a:p>
        </p:txBody>
      </p:sp>
      <p:sp>
        <p:nvSpPr>
          <p:cNvPr id="8" name="Rectangle 7"/>
          <p:cNvSpPr/>
          <p:nvPr/>
        </p:nvSpPr>
        <p:spPr>
          <a:xfrm>
            <a:off x="4434840" y="1207008"/>
            <a:ext cx="3611880" cy="4114800"/>
          </a:xfrm>
          <a:prstGeom prst="rect">
            <a:avLst/>
          </a:prstGeom>
          <a:solidFill>
            <a:srgbClr val="F3F5F8"/>
          </a:solidFill>
          <a:ln w="1905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danger_points.png"/>
          <p:cNvPicPr>
            <a:picLocks noChangeAspect="1"/>
          </p:cNvPicPr>
          <p:nvPr/>
        </p:nvPicPr>
        <p:blipFill>
          <a:blip r:embed="rId3"/>
          <a:stretch>
            <a:fillRect/>
          </a:stretch>
        </p:blipFill>
        <p:spPr>
          <a:xfrm>
            <a:off x="4553712" y="2167793"/>
            <a:ext cx="3374136" cy="1717741"/>
          </a:xfrm>
          <a:prstGeom prst="rect">
            <a:avLst/>
          </a:prstGeom>
          <a:ln w="9525">
            <a:solidFill>
              <a:srgbClr val="8A8A8A"/>
            </a:solidFill>
          </a:ln>
        </p:spPr>
      </p:pic>
      <p:sp>
        <p:nvSpPr>
          <p:cNvPr id="10" name="Rectangle 9"/>
          <p:cNvSpPr/>
          <p:nvPr/>
        </p:nvSpPr>
        <p:spPr>
          <a:xfrm>
            <a:off x="4434840" y="4846320"/>
            <a:ext cx="3611880" cy="47548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4846320"/>
            <a:ext cx="3611880" cy="475488"/>
          </a:xfrm>
          <a:prstGeom prst="rect">
            <a:avLst/>
          </a:prstGeom>
          <a:no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危険ポイント 図解</a:t>
            </a:r>
          </a:p>
        </p:txBody>
      </p:sp>
      <p:sp>
        <p:nvSpPr>
          <p:cNvPr id="12" name="Rectangle 11"/>
          <p:cNvSpPr/>
          <p:nvPr/>
        </p:nvSpPr>
        <p:spPr>
          <a:xfrm>
            <a:off x="8302752" y="1207008"/>
            <a:ext cx="3611880" cy="4114800"/>
          </a:xfrm>
          <a:prstGeom prst="rect">
            <a:avLst/>
          </a:prstGeom>
          <a:solidFill>
            <a:srgbClr val="F3F5F8"/>
          </a:solidFill>
          <a:ln w="19050">
            <a:solidFill>
              <a:srgbClr val="E22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oogle.png"/>
          <p:cNvPicPr>
            <a:picLocks noChangeAspect="1"/>
          </p:cNvPicPr>
          <p:nvPr/>
        </p:nvPicPr>
        <p:blipFill>
          <a:blip r:embed="rId4"/>
          <a:stretch>
            <a:fillRect/>
          </a:stretch>
        </p:blipFill>
        <p:spPr>
          <a:xfrm>
            <a:off x="8421624" y="2106445"/>
            <a:ext cx="3374136" cy="1840437"/>
          </a:xfrm>
          <a:prstGeom prst="rect">
            <a:avLst/>
          </a:prstGeom>
          <a:ln w="9525">
            <a:solidFill>
              <a:srgbClr val="8A8A8A"/>
            </a:solidFill>
          </a:ln>
        </p:spPr>
      </p:pic>
      <p:sp>
        <p:nvSpPr>
          <p:cNvPr id="14" name="Rectangle 13"/>
          <p:cNvSpPr/>
          <p:nvPr/>
        </p:nvSpPr>
        <p:spPr>
          <a:xfrm>
            <a:off x="8302752" y="4846320"/>
            <a:ext cx="3611880" cy="475488"/>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4846320"/>
            <a:ext cx="3611880" cy="475488"/>
          </a:xfrm>
          <a:prstGeom prst="rect">
            <a:avLst/>
          </a:prstGeom>
          <a:no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事故事例 教材（AI再現イメージ）</a:t>
            </a:r>
          </a:p>
        </p:txBody>
      </p:sp>
      <p:sp>
        <p:nvSpPr>
          <p:cNvPr id="16" name="TextBox 15"/>
          <p:cNvSpPr txBox="1"/>
          <p:nvPr/>
        </p:nvSpPr>
        <p:spPr>
          <a:xfrm>
            <a:off x="566928" y="5504688"/>
            <a:ext cx="11064240" cy="365760"/>
          </a:xfrm>
          <a:prstGeom prst="rect">
            <a:avLst/>
          </a:prstGeom>
          <a:noFill/>
          <a:ln>
            <a:noFill/>
          </a:ln>
        </p:spPr>
        <p:txBody>
          <a:bodyPr wrap="square" anchor="t" lIns="50800" rIns="50800" tIns="25400" bIns="25400">
            <a:spAutoFit/>
          </a:bodyPr>
          <a:lstStyle/>
          <a:p>
            <a:pPr algn="l"/>
            <a:r>
              <a:rPr sz="1100" b="0" lang="ja-JP" altLang="en-US">
                <a:solidFill>
                  <a:srgbClr val="5E5E5E"/>
                </a:solidFill>
                <a:latin typeface="游ゴシック"/>
                <a:ea typeface="游ゴシック"/>
                <a:cs typeface="游ゴシック"/>
              </a:rPr>
              <a:t>※ 事故事例の写真はAIによる再現イメージです（実写ではありません）。</a:t>
            </a:r>
          </a:p>
        </p:txBody>
      </p:sp>
      <p:sp>
        <p:nvSpPr>
          <p:cNvPr id="17" name="TextBox 16"/>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18" name="TextBox 17"/>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335024" cy="384048"/>
          </a:xfrm>
          <a:prstGeom prst="rect">
            <a:avLst/>
          </a:prstGeom>
          <a:solidFill>
            <a:srgbClr val="E2231A"/>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重大事故事例</a:t>
            </a:r>
          </a:p>
        </p:txBody>
      </p:sp>
      <p:sp>
        <p:nvSpPr>
          <p:cNvPr id="3" name="TextBox 2"/>
          <p:cNvSpPr txBox="1"/>
          <p:nvPr/>
        </p:nvSpPr>
        <p:spPr>
          <a:xfrm>
            <a:off x="2112264" y="365760"/>
            <a:ext cx="6766560" cy="502920"/>
          </a:xfrm>
          <a:prstGeom prst="rect">
            <a:avLst/>
          </a:prstGeom>
          <a:noFill/>
          <a:ln>
            <a:noFill/>
          </a:ln>
        </p:spPr>
        <p:txBody>
          <a:bodyPr wrap="square" anchor="ctr" lIns="50800" rIns="50800" tIns="25400" bIns="25400">
            <a:spAutoFit/>
          </a:bodyPr>
          <a:lstStyle/>
          <a:p>
            <a:pPr algn="l"/>
            <a:r>
              <a:rPr sz="1800" b="1" lang="ja-JP" altLang="en-US">
                <a:solidFill>
                  <a:srgbClr val="1A1A1A"/>
                </a:solidFill>
                <a:latin typeface="游ゴシック"/>
                <a:ea typeface="游ゴシック"/>
                <a:cs typeface="游ゴシック"/>
              </a:rPr>
              <a:t>展示パネル積み下ろし中、昇降板からの墜落</a:t>
            </a:r>
          </a:p>
        </p:txBody>
      </p:sp>
      <p:sp>
        <p:nvSpPr>
          <p:cNvPr id="4" name="TextBox 3"/>
          <p:cNvSpPr txBox="1"/>
          <p:nvPr/>
        </p:nvSpPr>
        <p:spPr>
          <a:xfrm>
            <a:off x="9144000" y="365760"/>
            <a:ext cx="2487168" cy="502920"/>
          </a:xfrm>
          <a:prstGeom prst="rect">
            <a:avLst/>
          </a:prstGeom>
          <a:noFill/>
          <a:ln>
            <a:noFill/>
          </a:ln>
        </p:spPr>
        <p:txBody>
          <a:bodyPr wrap="square" anchor="ctr" lIns="50800" rIns="50800" tIns="25400" bIns="25400">
            <a:spAutoFit/>
          </a:bodyPr>
          <a:lstStyle/>
          <a:p>
            <a:pPr algn="r"/>
            <a:r>
              <a:rPr sz="1300" b="1" lang="ja-JP" altLang="en-US">
                <a:solidFill>
                  <a:srgbClr val="E2231A"/>
                </a:solidFill>
                <a:latin typeface="游ゴシック"/>
                <a:ea typeface="游ゴシック"/>
                <a:cs typeface="游ゴシック"/>
              </a:rPr>
              <a:t>TGL／墜落・転落</a:t>
            </a:r>
          </a:p>
        </p:txBody>
      </p:sp>
      <p:sp>
        <p:nvSpPr>
          <p:cNvPr id="5" name="Rectangle 4"/>
          <p:cNvSpPr/>
          <p:nvPr/>
        </p:nvSpPr>
        <p:spPr>
          <a:xfrm>
            <a:off x="566928" y="1280160"/>
            <a:ext cx="3499104" cy="23774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80160"/>
            <a:ext cx="3499104" cy="237744"/>
          </a:xfrm>
          <a:prstGeom prst="rect">
            <a:avLst/>
          </a:prstGeom>
          <a:noFill/>
          <a:ln>
            <a:noFill/>
          </a:ln>
        </p:spPr>
        <p:txBody>
          <a:bodyPr wrap="square" anchor="ctr" lIns="50800" rIns="50800" tIns="25400" bIns="25400">
            <a:spAutoFit/>
          </a:bodyPr>
          <a:lstStyle/>
          <a:p>
            <a:pPr algn="ctr"/>
            <a:r>
              <a:rPr sz="1000" b="1" lang="ja-JP" altLang="en-US">
                <a:solidFill>
                  <a:srgbClr val="FFFFFF"/>
                </a:solidFill>
                <a:latin typeface="游ゴシック"/>
                <a:ea typeface="游ゴシック"/>
                <a:cs typeface="游ゴシック"/>
              </a:rPr>
              <a:t>現場ベース画像</a:t>
            </a:r>
          </a:p>
        </p:txBody>
      </p:sp>
      <p:pic>
        <p:nvPicPr>
          <p:cNvPr id="7" name="Picture 6" descr="base.png"/>
          <p:cNvPicPr>
            <a:picLocks noChangeAspect="1"/>
          </p:cNvPicPr>
          <p:nvPr/>
        </p:nvPicPr>
        <p:blipFill>
          <a:blip r:embed="rId2"/>
          <a:stretch>
            <a:fillRect/>
          </a:stretch>
        </p:blipFill>
        <p:spPr>
          <a:xfrm>
            <a:off x="1374648" y="1536192"/>
            <a:ext cx="1883664" cy="1883664"/>
          </a:xfrm>
          <a:prstGeom prst="rect">
            <a:avLst/>
          </a:prstGeom>
          <a:ln w="9525">
            <a:solidFill>
              <a:srgbClr val="8A8A8A"/>
            </a:solidFill>
          </a:ln>
        </p:spPr>
      </p:pic>
      <p:sp>
        <p:nvSpPr>
          <p:cNvPr id="8" name="Rectangle 7"/>
          <p:cNvSpPr/>
          <p:nvPr/>
        </p:nvSpPr>
        <p:spPr>
          <a:xfrm>
            <a:off x="4340352" y="1280160"/>
            <a:ext cx="3499104" cy="23774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0352" y="1280160"/>
            <a:ext cx="3499104" cy="237744"/>
          </a:xfrm>
          <a:prstGeom prst="rect">
            <a:avLst/>
          </a:prstGeom>
          <a:noFill/>
          <a:ln>
            <a:noFill/>
          </a:ln>
        </p:spPr>
        <p:txBody>
          <a:bodyPr wrap="square" anchor="ctr" lIns="50800" rIns="50800" tIns="25400" bIns="25400">
            <a:spAutoFit/>
          </a:bodyPr>
          <a:lstStyle/>
          <a:p>
            <a:pPr algn="ctr"/>
            <a:r>
              <a:rPr sz="1000" b="1" lang="ja-JP" altLang="en-US">
                <a:solidFill>
                  <a:srgbClr val="FFFFFF"/>
                </a:solidFill>
                <a:latin typeface="游ゴシック"/>
                <a:ea typeface="游ゴシック"/>
                <a:cs typeface="游ゴシック"/>
              </a:rPr>
              <a:t>AI再現（OpenAI）</a:t>
            </a:r>
          </a:p>
        </p:txBody>
      </p:sp>
      <p:pic>
        <p:nvPicPr>
          <p:cNvPr id="10" name="Picture 9" descr="openai.png"/>
          <p:cNvPicPr>
            <a:picLocks noChangeAspect="1"/>
          </p:cNvPicPr>
          <p:nvPr/>
        </p:nvPicPr>
        <p:blipFill>
          <a:blip r:embed="rId3"/>
          <a:stretch>
            <a:fillRect/>
          </a:stretch>
        </p:blipFill>
        <p:spPr>
          <a:xfrm>
            <a:off x="5148072" y="1536192"/>
            <a:ext cx="1883664" cy="1883664"/>
          </a:xfrm>
          <a:prstGeom prst="rect">
            <a:avLst/>
          </a:prstGeom>
          <a:ln w="9525">
            <a:solidFill>
              <a:srgbClr val="8A8A8A"/>
            </a:solidFill>
          </a:ln>
        </p:spPr>
      </p:pic>
      <p:sp>
        <p:nvSpPr>
          <p:cNvPr id="11" name="Rectangle 10"/>
          <p:cNvSpPr/>
          <p:nvPr/>
        </p:nvSpPr>
        <p:spPr>
          <a:xfrm>
            <a:off x="8113776" y="1280160"/>
            <a:ext cx="3499104" cy="23774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3776" y="1280160"/>
            <a:ext cx="3499104" cy="237744"/>
          </a:xfrm>
          <a:prstGeom prst="rect">
            <a:avLst/>
          </a:prstGeom>
          <a:noFill/>
          <a:ln>
            <a:noFill/>
          </a:ln>
        </p:spPr>
        <p:txBody>
          <a:bodyPr wrap="square" anchor="ctr" lIns="50800" rIns="50800" tIns="25400" bIns="25400">
            <a:spAutoFit/>
          </a:bodyPr>
          <a:lstStyle/>
          <a:p>
            <a:pPr algn="ctr"/>
            <a:r>
              <a:rPr sz="1000" b="1" lang="ja-JP" altLang="en-US">
                <a:solidFill>
                  <a:srgbClr val="FFFFFF"/>
                </a:solidFill>
                <a:latin typeface="游ゴシック"/>
                <a:ea typeface="游ゴシック"/>
                <a:cs typeface="游ゴシック"/>
              </a:rPr>
              <a:t>AI再現（Google）</a:t>
            </a:r>
          </a:p>
        </p:txBody>
      </p:sp>
      <p:pic>
        <p:nvPicPr>
          <p:cNvPr id="13" name="Picture 12" descr="google.png"/>
          <p:cNvPicPr>
            <a:picLocks noChangeAspect="1"/>
          </p:cNvPicPr>
          <p:nvPr/>
        </p:nvPicPr>
        <p:blipFill>
          <a:blip r:embed="rId4"/>
          <a:stretch>
            <a:fillRect/>
          </a:stretch>
        </p:blipFill>
        <p:spPr>
          <a:xfrm>
            <a:off x="8136636" y="1536192"/>
            <a:ext cx="3453384" cy="1883664"/>
          </a:xfrm>
          <a:prstGeom prst="rect">
            <a:avLst/>
          </a:prstGeom>
          <a:ln w="9525">
            <a:solidFill>
              <a:srgbClr val="8A8A8A"/>
            </a:solidFill>
          </a:ln>
        </p:spPr>
      </p:pic>
      <p:sp>
        <p:nvSpPr>
          <p:cNvPr id="14" name="Rectangle 13"/>
          <p:cNvSpPr/>
          <p:nvPr/>
        </p:nvSpPr>
        <p:spPr>
          <a:xfrm>
            <a:off x="566928" y="3621024"/>
            <a:ext cx="1874519" cy="603504"/>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621024"/>
            <a:ext cx="1874519" cy="603504"/>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発生事象</a:t>
            </a:r>
          </a:p>
        </p:txBody>
      </p:sp>
      <p:sp>
        <p:nvSpPr>
          <p:cNvPr id="16" name="Rectangle 15"/>
          <p:cNvSpPr/>
          <p:nvPr/>
        </p:nvSpPr>
        <p:spPr>
          <a:xfrm>
            <a:off x="2441448" y="3621024"/>
            <a:ext cx="9171432" cy="603504"/>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3621024"/>
            <a:ext cx="8951976" cy="603504"/>
          </a:xfrm>
          <a:prstGeom prst="rect">
            <a:avLst/>
          </a:prstGeom>
          <a:noFill/>
          <a:ln>
            <a:noFill/>
          </a:ln>
        </p:spPr>
        <p:txBody>
          <a:bodyPr wrap="square" anchor="ctr" lIns="50800" rIns="50800" tIns="25400" bIns="25400">
            <a:spAutoFit/>
          </a:bodyPr>
          <a:lstStyle/>
          <a:p>
            <a:pPr algn="l"/>
            <a:r>
              <a:rPr sz="1100" b="0" lang="ja-JP" altLang="en-US">
                <a:solidFill>
                  <a:srgbClr val="1A1A1A"/>
                </a:solidFill>
                <a:latin typeface="游ゴシック"/>
                <a:ea typeface="游ゴシック"/>
                <a:cs typeface="游ゴシック"/>
              </a:rPr>
              <a:t>展示会場の搬入口で、トラックのテールゲートリフター（昇降板）を使って展示パネル・什器を積み下ろし中、作業を終えて荷台から降りようとした作業員が、荷台と昇降板の段差・昇降板が上がり切っていない状態に気づかずバランスを崩し、地面側へ墜落しそうになった。</a:t>
            </a:r>
          </a:p>
        </p:txBody>
      </p:sp>
      <p:sp>
        <p:nvSpPr>
          <p:cNvPr id="18" name="Rectangle 17"/>
          <p:cNvSpPr/>
          <p:nvPr/>
        </p:nvSpPr>
        <p:spPr>
          <a:xfrm>
            <a:off x="566928" y="4224528"/>
            <a:ext cx="1874519" cy="493776"/>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224528"/>
            <a:ext cx="1874519" cy="493776"/>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原因概要</a:t>
            </a:r>
          </a:p>
        </p:txBody>
      </p:sp>
      <p:sp>
        <p:nvSpPr>
          <p:cNvPr id="20" name="Rectangle 19"/>
          <p:cNvSpPr/>
          <p:nvPr/>
        </p:nvSpPr>
        <p:spPr>
          <a:xfrm>
            <a:off x="2441448" y="4224528"/>
            <a:ext cx="9171432" cy="493776"/>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51176" y="4224528"/>
            <a:ext cx="8951976" cy="493776"/>
          </a:xfrm>
          <a:prstGeom prst="rect">
            <a:avLst/>
          </a:prstGeom>
          <a:noFill/>
          <a:ln>
            <a:noFill/>
          </a:ln>
        </p:spPr>
        <p:txBody>
          <a:bodyPr wrap="square" anchor="ctr" lIns="50800" rIns="50800" tIns="25400" bIns="25400">
            <a:spAutoFit/>
          </a:bodyPr>
          <a:lstStyle/>
          <a:p>
            <a:pPr algn="l"/>
            <a:r>
              <a:rPr sz="1100" b="0" lang="ja-JP" altLang="en-US">
                <a:solidFill>
                  <a:srgbClr val="1A1A1A"/>
                </a:solidFill>
                <a:latin typeface="游ゴシック"/>
                <a:ea typeface="游ゴシック"/>
                <a:cs typeface="游ゴシック"/>
              </a:rPr>
              <a:t>昇降板が荷台と同じ高さまで上がり切っていない状態で乗り移ろうとした／荷台と昇降板の段差を見落とし、昇降の最終確認が不足していた</a:t>
            </a:r>
          </a:p>
        </p:txBody>
      </p:sp>
      <p:sp>
        <p:nvSpPr>
          <p:cNvPr id="22" name="Rectangle 21"/>
          <p:cNvSpPr/>
          <p:nvPr/>
        </p:nvSpPr>
        <p:spPr>
          <a:xfrm>
            <a:off x="566928" y="4718304"/>
            <a:ext cx="1874519" cy="402336"/>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718304"/>
            <a:ext cx="1874519" cy="402336"/>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対応</a:t>
            </a:r>
          </a:p>
        </p:txBody>
      </p:sp>
      <p:sp>
        <p:nvSpPr>
          <p:cNvPr id="24" name="Rectangle 23"/>
          <p:cNvSpPr/>
          <p:nvPr/>
        </p:nvSpPr>
        <p:spPr>
          <a:xfrm>
            <a:off x="2441448" y="4718304"/>
            <a:ext cx="9171432" cy="402336"/>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1176" y="4718304"/>
            <a:ext cx="8951976" cy="402336"/>
          </a:xfrm>
          <a:prstGeom prst="rect">
            <a:avLst/>
          </a:prstGeom>
          <a:noFill/>
          <a:ln>
            <a:noFill/>
          </a:ln>
        </p:spPr>
        <p:txBody>
          <a:bodyPr wrap="square" anchor="ctr" lIns="50800" rIns="50800" tIns="25400" bIns="25400">
            <a:spAutoFit/>
          </a:bodyPr>
          <a:lstStyle/>
          <a:p>
            <a:pPr algn="l"/>
            <a:r>
              <a:rPr sz="1000" b="0" lang="ja-JP" altLang="en-US">
                <a:solidFill>
                  <a:srgbClr val="1A1A1A"/>
                </a:solidFill>
                <a:latin typeface="游ゴシック"/>
                <a:ea typeface="游ゴシック"/>
                <a:cs typeface="游ゴシック"/>
              </a:rPr>
              <a:t>当該作業を直ちに中断し、作業員の安全を確認／昇降板の昇降動作・段差・停止位置を点検</a:t>
            </a:r>
          </a:p>
        </p:txBody>
      </p:sp>
      <p:sp>
        <p:nvSpPr>
          <p:cNvPr id="26" name="Rectangle 25"/>
          <p:cNvSpPr/>
          <p:nvPr/>
        </p:nvSpPr>
        <p:spPr>
          <a:xfrm>
            <a:off x="566928" y="5120640"/>
            <a:ext cx="1874519" cy="694944"/>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120640"/>
            <a:ext cx="1874519" cy="694944"/>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対策概要</a:t>
            </a:r>
          </a:p>
        </p:txBody>
      </p:sp>
      <p:sp>
        <p:nvSpPr>
          <p:cNvPr id="28" name="Rectangle 27"/>
          <p:cNvSpPr/>
          <p:nvPr/>
        </p:nvSpPr>
        <p:spPr>
          <a:xfrm>
            <a:off x="2441448" y="5120640"/>
            <a:ext cx="9171432" cy="694944"/>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51176" y="5120640"/>
            <a:ext cx="8951976" cy="694944"/>
          </a:xfrm>
          <a:prstGeom prst="rect">
            <a:avLst/>
          </a:prstGeom>
          <a:noFill/>
          <a:ln>
            <a:noFill/>
          </a:ln>
        </p:spPr>
        <p:txBody>
          <a:bodyPr wrap="square" anchor="ctr" lIns="50800" rIns="50800" tIns="25400" bIns="25400">
            <a:spAutoFit/>
          </a:bodyPr>
          <a:lstStyle/>
          <a:p>
            <a:pPr algn="l"/>
            <a:r>
              <a:rPr sz="1100" b="0" lang="ja-JP" altLang="en-US">
                <a:solidFill>
                  <a:srgbClr val="1A1A1A"/>
                </a:solidFill>
                <a:latin typeface="游ゴシック"/>
                <a:ea typeface="游ゴシック"/>
                <a:cs typeface="游ゴシック"/>
              </a:rPr>
              <a:t>昇降板の昇降を最後まで確認し、荷台と同じ高さに上がり切ってから乗り移る／荷台から昇降する際は昇降設備を正しく使用し、段差をまたいで飛び降りない／昇降板上では手すり・周囲を確認し、無理な姿勢での乗り移りを避ける</a:t>
            </a:r>
          </a:p>
        </p:txBody>
      </p:sp>
      <p:sp>
        <p:nvSpPr>
          <p:cNvPr id="30" name="TextBox 29"/>
          <p:cNvSpPr txBox="1"/>
          <p:nvPr/>
        </p:nvSpPr>
        <p:spPr>
          <a:xfrm>
            <a:off x="566928" y="5852160"/>
            <a:ext cx="11064240" cy="274320"/>
          </a:xfrm>
          <a:prstGeom prst="rect">
            <a:avLst/>
          </a:prstGeom>
          <a:noFill/>
          <a:ln>
            <a:noFill/>
          </a:ln>
        </p:spPr>
        <p:txBody>
          <a:bodyPr wrap="square" anchor="t" lIns="50800" rIns="50800" tIns="25400" bIns="25400">
            <a:spAutoFit/>
          </a:bodyPr>
          <a:lstStyle/>
          <a:p>
            <a:pPr algn="l"/>
            <a:r>
              <a:rPr sz="1000" b="1" lang="ja-JP" altLang="en-US">
                <a:solidFill>
                  <a:srgbClr val="5E5E5E"/>
                </a:solidFill>
                <a:latin typeface="游ゴシック"/>
                <a:ea typeface="游ゴシック"/>
                <a:cs typeface="游ゴシック"/>
              </a:rPr>
              <a:t>出典：</a:t>
            </a:r>
            <a:r>
              <a:rPr sz="1000" b="0" lang="ja-JP" altLang="en-US">
                <a:solidFill>
                  <a:srgbClr val="5E5E5E"/>
                </a:solidFill>
                <a:latin typeface="游ゴシック"/>
                <a:ea typeface="游ゴシック"/>
                <a:cs typeface="游ゴシック"/>
              </a:rPr>
              <a:t>厚生労働省 職場のあんぜんサイト ヒヤリ・ハット事例　https://anzeninfo.mhlw.go.jp/hiyari/hiy_0448.html</a:t>
            </a:r>
          </a:p>
        </p:txBody>
      </p:sp>
      <p:sp>
        <p:nvSpPr>
          <p:cNvPr id="31" name="TextBox 30"/>
          <p:cNvSpPr txBox="1"/>
          <p:nvPr/>
        </p:nvSpPr>
        <p:spPr>
          <a:xfrm>
            <a:off x="566928" y="6126480"/>
            <a:ext cx="11064240" cy="274320"/>
          </a:xfrm>
          <a:prstGeom prst="rect">
            <a:avLst/>
          </a:prstGeom>
          <a:noFill/>
          <a:ln>
            <a:noFill/>
          </a:ln>
        </p:spPr>
        <p:txBody>
          <a:bodyPr wrap="square" anchor="t" lIns="50800" rIns="50800" tIns="25400" bIns="25400">
            <a:spAutoFit/>
          </a:bodyPr>
          <a:lstStyle/>
          <a:p>
            <a:pPr algn="l"/>
            <a:r>
              <a:rPr sz="1000" b="0" lang="ja-JP" altLang="en-US">
                <a:solidFill>
                  <a:srgbClr val="8A8A8A"/>
                </a:solidFill>
                <a:latin typeface="游ゴシック"/>
                <a:ea typeface="游ゴシック"/>
                <a:cs typeface="游ゴシック"/>
              </a:rPr>
              <a:t>※ 写真はAIによる再現イメージ（実写ではありません）。公的災害事例の機序を参考にした創作（再現）事例です。</a:t>
            </a:r>
          </a:p>
        </p:txBody>
      </p:sp>
      <p:sp>
        <p:nvSpPr>
          <p:cNvPr id="32" name="TextBox 31"/>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33" name="TextBox 32"/>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335024" cy="384048"/>
          </a:xfrm>
          <a:prstGeom prst="rect">
            <a:avLst/>
          </a:prstGeom>
          <a:solidFill>
            <a:srgbClr val="E2231A"/>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重大事故事例</a:t>
            </a:r>
          </a:p>
        </p:txBody>
      </p:sp>
      <p:sp>
        <p:nvSpPr>
          <p:cNvPr id="3" name="TextBox 2"/>
          <p:cNvSpPr txBox="1"/>
          <p:nvPr/>
        </p:nvSpPr>
        <p:spPr>
          <a:xfrm>
            <a:off x="2112264" y="365760"/>
            <a:ext cx="6766560" cy="502920"/>
          </a:xfrm>
          <a:prstGeom prst="rect">
            <a:avLst/>
          </a:prstGeom>
          <a:noFill/>
          <a:ln>
            <a:noFill/>
          </a:ln>
        </p:spPr>
        <p:txBody>
          <a:bodyPr wrap="square" anchor="ctr" lIns="50800" rIns="50800" tIns="25400" bIns="25400">
            <a:spAutoFit/>
          </a:bodyPr>
          <a:lstStyle/>
          <a:p>
            <a:pPr algn="l"/>
            <a:r>
              <a:rPr sz="1800" b="1" lang="ja-JP" altLang="en-US">
                <a:solidFill>
                  <a:srgbClr val="1A1A1A"/>
                </a:solidFill>
                <a:latin typeface="游ゴシック"/>
                <a:ea typeface="游ゴシック"/>
                <a:cs typeface="游ゴシック"/>
              </a:rPr>
              <a:t>会場天井付近の作業中、作業床手すりと上方構造物の間に挟まれ</a:t>
            </a:r>
          </a:p>
        </p:txBody>
      </p:sp>
      <p:sp>
        <p:nvSpPr>
          <p:cNvPr id="4" name="TextBox 3"/>
          <p:cNvSpPr txBox="1"/>
          <p:nvPr/>
        </p:nvSpPr>
        <p:spPr>
          <a:xfrm>
            <a:off x="9144000" y="365760"/>
            <a:ext cx="2487168" cy="502920"/>
          </a:xfrm>
          <a:prstGeom prst="rect">
            <a:avLst/>
          </a:prstGeom>
          <a:noFill/>
          <a:ln>
            <a:noFill/>
          </a:ln>
        </p:spPr>
        <p:txBody>
          <a:bodyPr wrap="square" anchor="ctr" lIns="50800" rIns="50800" tIns="25400" bIns="25400">
            <a:spAutoFit/>
          </a:bodyPr>
          <a:lstStyle/>
          <a:p>
            <a:pPr algn="r"/>
            <a:r>
              <a:rPr sz="1300" b="1" lang="ja-JP" altLang="en-US">
                <a:solidFill>
                  <a:srgbClr val="E2231A"/>
                </a:solidFill>
                <a:latin typeface="游ゴシック"/>
                <a:ea typeface="游ゴシック"/>
                <a:cs typeface="游ゴシック"/>
              </a:rPr>
              <a:t>高所／はさまれ・巻き込まれ</a:t>
            </a:r>
          </a:p>
        </p:txBody>
      </p:sp>
      <p:sp>
        <p:nvSpPr>
          <p:cNvPr id="5" name="Rectangle 4"/>
          <p:cNvSpPr/>
          <p:nvPr/>
        </p:nvSpPr>
        <p:spPr>
          <a:xfrm>
            <a:off x="566928" y="1280160"/>
            <a:ext cx="3499104" cy="23774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80160"/>
            <a:ext cx="3499104" cy="237744"/>
          </a:xfrm>
          <a:prstGeom prst="rect">
            <a:avLst/>
          </a:prstGeom>
          <a:noFill/>
          <a:ln>
            <a:noFill/>
          </a:ln>
        </p:spPr>
        <p:txBody>
          <a:bodyPr wrap="square" anchor="ctr" lIns="50800" rIns="50800" tIns="25400" bIns="25400">
            <a:spAutoFit/>
          </a:bodyPr>
          <a:lstStyle/>
          <a:p>
            <a:pPr algn="ctr"/>
            <a:r>
              <a:rPr sz="1000" b="1" lang="ja-JP" altLang="en-US">
                <a:solidFill>
                  <a:srgbClr val="FFFFFF"/>
                </a:solidFill>
                <a:latin typeface="游ゴシック"/>
                <a:ea typeface="游ゴシック"/>
                <a:cs typeface="游ゴシック"/>
              </a:rPr>
              <a:t>現場ベース画像</a:t>
            </a:r>
          </a:p>
        </p:txBody>
      </p:sp>
      <p:pic>
        <p:nvPicPr>
          <p:cNvPr id="7" name="Picture 6" descr="base.png"/>
          <p:cNvPicPr>
            <a:picLocks noChangeAspect="1"/>
          </p:cNvPicPr>
          <p:nvPr/>
        </p:nvPicPr>
        <p:blipFill>
          <a:blip r:embed="rId2"/>
          <a:stretch>
            <a:fillRect/>
          </a:stretch>
        </p:blipFill>
        <p:spPr>
          <a:xfrm>
            <a:off x="1374648" y="1536192"/>
            <a:ext cx="1883664" cy="1883664"/>
          </a:xfrm>
          <a:prstGeom prst="rect">
            <a:avLst/>
          </a:prstGeom>
          <a:ln w="9525">
            <a:solidFill>
              <a:srgbClr val="8A8A8A"/>
            </a:solidFill>
          </a:ln>
        </p:spPr>
      </p:pic>
      <p:sp>
        <p:nvSpPr>
          <p:cNvPr id="8" name="Rectangle 7"/>
          <p:cNvSpPr/>
          <p:nvPr/>
        </p:nvSpPr>
        <p:spPr>
          <a:xfrm>
            <a:off x="4340352" y="1280160"/>
            <a:ext cx="3499104" cy="23774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0352" y="1280160"/>
            <a:ext cx="3499104" cy="237744"/>
          </a:xfrm>
          <a:prstGeom prst="rect">
            <a:avLst/>
          </a:prstGeom>
          <a:noFill/>
          <a:ln>
            <a:noFill/>
          </a:ln>
        </p:spPr>
        <p:txBody>
          <a:bodyPr wrap="square" anchor="ctr" lIns="50800" rIns="50800" tIns="25400" bIns="25400">
            <a:spAutoFit/>
          </a:bodyPr>
          <a:lstStyle/>
          <a:p>
            <a:pPr algn="ctr"/>
            <a:r>
              <a:rPr sz="1000" b="1" lang="ja-JP" altLang="en-US">
                <a:solidFill>
                  <a:srgbClr val="FFFFFF"/>
                </a:solidFill>
                <a:latin typeface="游ゴシック"/>
                <a:ea typeface="游ゴシック"/>
                <a:cs typeface="游ゴシック"/>
              </a:rPr>
              <a:t>AI再現（OpenAI）</a:t>
            </a:r>
          </a:p>
        </p:txBody>
      </p:sp>
      <p:pic>
        <p:nvPicPr>
          <p:cNvPr id="10" name="Picture 9" descr="openai.png"/>
          <p:cNvPicPr>
            <a:picLocks noChangeAspect="1"/>
          </p:cNvPicPr>
          <p:nvPr/>
        </p:nvPicPr>
        <p:blipFill>
          <a:blip r:embed="rId3"/>
          <a:stretch>
            <a:fillRect/>
          </a:stretch>
        </p:blipFill>
        <p:spPr>
          <a:xfrm>
            <a:off x="5148072" y="1536192"/>
            <a:ext cx="1883664" cy="1883664"/>
          </a:xfrm>
          <a:prstGeom prst="rect">
            <a:avLst/>
          </a:prstGeom>
          <a:ln w="9525">
            <a:solidFill>
              <a:srgbClr val="8A8A8A"/>
            </a:solidFill>
          </a:ln>
        </p:spPr>
      </p:pic>
      <p:sp>
        <p:nvSpPr>
          <p:cNvPr id="11" name="Rectangle 10"/>
          <p:cNvSpPr/>
          <p:nvPr/>
        </p:nvSpPr>
        <p:spPr>
          <a:xfrm>
            <a:off x="8113776" y="1280160"/>
            <a:ext cx="3499104" cy="23774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3776" y="1280160"/>
            <a:ext cx="3499104" cy="237744"/>
          </a:xfrm>
          <a:prstGeom prst="rect">
            <a:avLst/>
          </a:prstGeom>
          <a:noFill/>
          <a:ln>
            <a:noFill/>
          </a:ln>
        </p:spPr>
        <p:txBody>
          <a:bodyPr wrap="square" anchor="ctr" lIns="50800" rIns="50800" tIns="25400" bIns="25400">
            <a:spAutoFit/>
          </a:bodyPr>
          <a:lstStyle/>
          <a:p>
            <a:pPr algn="ctr"/>
            <a:r>
              <a:rPr sz="1000" b="1" lang="ja-JP" altLang="en-US">
                <a:solidFill>
                  <a:srgbClr val="FFFFFF"/>
                </a:solidFill>
                <a:latin typeface="游ゴシック"/>
                <a:ea typeface="游ゴシック"/>
                <a:cs typeface="游ゴシック"/>
              </a:rPr>
              <a:t>AI再現（Google）</a:t>
            </a:r>
          </a:p>
        </p:txBody>
      </p:sp>
      <p:pic>
        <p:nvPicPr>
          <p:cNvPr id="13" name="Picture 12" descr="google.png"/>
          <p:cNvPicPr>
            <a:picLocks noChangeAspect="1"/>
          </p:cNvPicPr>
          <p:nvPr/>
        </p:nvPicPr>
        <p:blipFill>
          <a:blip r:embed="rId4"/>
          <a:stretch>
            <a:fillRect/>
          </a:stretch>
        </p:blipFill>
        <p:spPr>
          <a:xfrm>
            <a:off x="8136636" y="1536192"/>
            <a:ext cx="3453384" cy="1883664"/>
          </a:xfrm>
          <a:prstGeom prst="rect">
            <a:avLst/>
          </a:prstGeom>
          <a:ln w="9525">
            <a:solidFill>
              <a:srgbClr val="8A8A8A"/>
            </a:solidFill>
          </a:ln>
        </p:spPr>
      </p:pic>
      <p:sp>
        <p:nvSpPr>
          <p:cNvPr id="14" name="Rectangle 13"/>
          <p:cNvSpPr/>
          <p:nvPr/>
        </p:nvSpPr>
        <p:spPr>
          <a:xfrm>
            <a:off x="566928" y="3621024"/>
            <a:ext cx="1874519" cy="603504"/>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621024"/>
            <a:ext cx="1874519" cy="603504"/>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発生事象</a:t>
            </a:r>
          </a:p>
        </p:txBody>
      </p:sp>
      <p:sp>
        <p:nvSpPr>
          <p:cNvPr id="16" name="Rectangle 15"/>
          <p:cNvSpPr/>
          <p:nvPr/>
        </p:nvSpPr>
        <p:spPr>
          <a:xfrm>
            <a:off x="2441448" y="3621024"/>
            <a:ext cx="9171432" cy="603504"/>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3621024"/>
            <a:ext cx="8951976" cy="603504"/>
          </a:xfrm>
          <a:prstGeom prst="rect">
            <a:avLst/>
          </a:prstGeom>
          <a:noFill/>
          <a:ln>
            <a:noFill/>
          </a:ln>
        </p:spPr>
        <p:txBody>
          <a:bodyPr wrap="square" anchor="ctr" lIns="50800" rIns="50800" tIns="25400" bIns="25400">
            <a:spAutoFit/>
          </a:bodyPr>
          <a:lstStyle/>
          <a:p>
            <a:pPr algn="l"/>
            <a:r>
              <a:rPr sz="1100" b="0" lang="ja-JP" altLang="en-US">
                <a:solidFill>
                  <a:srgbClr val="1A1A1A"/>
                </a:solidFill>
                <a:latin typeface="游ゴシック"/>
                <a:ea typeface="游ゴシック"/>
                <a:cs typeface="游ゴシック"/>
              </a:rPr>
              <a:t>展示会場の天井付近で、高所作業車のバケット（作業床）に乗って配線・吊り作業をしようとバケットを旋回・移動させたとき、据付け地盤の凹凸で車体が揺れ、バケットの手すりと頭上の天井レール・梁の間に作業者が腰部を挟まれそうになった。</a:t>
            </a:r>
          </a:p>
        </p:txBody>
      </p:sp>
      <p:sp>
        <p:nvSpPr>
          <p:cNvPr id="18" name="Rectangle 17"/>
          <p:cNvSpPr/>
          <p:nvPr/>
        </p:nvSpPr>
        <p:spPr>
          <a:xfrm>
            <a:off x="566928" y="4224528"/>
            <a:ext cx="1874519" cy="493776"/>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224528"/>
            <a:ext cx="1874519" cy="493776"/>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原因概要</a:t>
            </a:r>
          </a:p>
        </p:txBody>
      </p:sp>
      <p:sp>
        <p:nvSpPr>
          <p:cNvPr id="20" name="Rectangle 19"/>
          <p:cNvSpPr/>
          <p:nvPr/>
        </p:nvSpPr>
        <p:spPr>
          <a:xfrm>
            <a:off x="2441448" y="4224528"/>
            <a:ext cx="9171432" cy="493776"/>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51176" y="4224528"/>
            <a:ext cx="8951976" cy="493776"/>
          </a:xfrm>
          <a:prstGeom prst="rect">
            <a:avLst/>
          </a:prstGeom>
          <a:noFill/>
          <a:ln>
            <a:noFill/>
          </a:ln>
        </p:spPr>
        <p:txBody>
          <a:bodyPr wrap="square" anchor="ctr" lIns="50800" rIns="50800" tIns="25400" bIns="25400">
            <a:spAutoFit/>
          </a:bodyPr>
          <a:lstStyle/>
          <a:p>
            <a:pPr algn="l"/>
            <a:r>
              <a:rPr sz="1100" b="0" lang="ja-JP" altLang="en-US">
                <a:solidFill>
                  <a:srgbClr val="1A1A1A"/>
                </a:solidFill>
                <a:latin typeface="游ゴシック"/>
                <a:ea typeface="游ゴシック"/>
                <a:cs typeface="游ゴシック"/>
              </a:rPr>
              <a:t>高所作業車の据付け地盤に凹凸があり、車体が不安定で揺れた／頭上の天井レール・梁とバケットの離隔（挟まれ範囲）の確認が不足</a:t>
            </a:r>
          </a:p>
        </p:txBody>
      </p:sp>
      <p:sp>
        <p:nvSpPr>
          <p:cNvPr id="22" name="Rectangle 21"/>
          <p:cNvSpPr/>
          <p:nvPr/>
        </p:nvSpPr>
        <p:spPr>
          <a:xfrm>
            <a:off x="566928" y="4718304"/>
            <a:ext cx="1874519" cy="402336"/>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718304"/>
            <a:ext cx="1874519" cy="402336"/>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対応</a:t>
            </a:r>
          </a:p>
        </p:txBody>
      </p:sp>
      <p:sp>
        <p:nvSpPr>
          <p:cNvPr id="24" name="Rectangle 23"/>
          <p:cNvSpPr/>
          <p:nvPr/>
        </p:nvSpPr>
        <p:spPr>
          <a:xfrm>
            <a:off x="2441448" y="4718304"/>
            <a:ext cx="9171432" cy="402336"/>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1176" y="4718304"/>
            <a:ext cx="8951976" cy="402336"/>
          </a:xfrm>
          <a:prstGeom prst="rect">
            <a:avLst/>
          </a:prstGeom>
          <a:noFill/>
          <a:ln>
            <a:noFill/>
          </a:ln>
        </p:spPr>
        <p:txBody>
          <a:bodyPr wrap="square" anchor="ctr" lIns="50800" rIns="50800" tIns="25400" bIns="25400">
            <a:spAutoFit/>
          </a:bodyPr>
          <a:lstStyle/>
          <a:p>
            <a:pPr algn="l"/>
            <a:r>
              <a:rPr sz="1000" b="0" lang="ja-JP" altLang="en-US">
                <a:solidFill>
                  <a:srgbClr val="1A1A1A"/>
                </a:solidFill>
                <a:latin typeface="游ゴシック"/>
                <a:ea typeface="游ゴシック"/>
                <a:cs typeface="游ゴシック"/>
              </a:rPr>
              <a:t>作業を直ちに中断し、作業者の安全を確認／高所作業車の据付け地盤・水平・安定状態を点検</a:t>
            </a:r>
          </a:p>
        </p:txBody>
      </p:sp>
      <p:sp>
        <p:nvSpPr>
          <p:cNvPr id="26" name="Rectangle 25"/>
          <p:cNvSpPr/>
          <p:nvPr/>
        </p:nvSpPr>
        <p:spPr>
          <a:xfrm>
            <a:off x="566928" y="5120640"/>
            <a:ext cx="1874519" cy="694944"/>
          </a:xfrm>
          <a:prstGeom prst="rect">
            <a:avLst/>
          </a:prstGeom>
          <a:solidFill>
            <a:srgbClr val="D9D9D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120640"/>
            <a:ext cx="1874519" cy="694944"/>
          </a:xfrm>
          <a:prstGeom prst="rect">
            <a:avLst/>
          </a:prstGeom>
          <a:noFill/>
          <a:ln>
            <a:noFill/>
          </a:ln>
        </p:spPr>
        <p:txBody>
          <a:bodyPr wrap="square" anchor="ctr" lIns="50800" rIns="50800" tIns="25400" bIns="25400">
            <a:spAutoFit/>
          </a:bodyPr>
          <a:lstStyle/>
          <a:p>
            <a:pPr algn="ctr"/>
            <a:r>
              <a:rPr sz="1100" b="1" lang="ja-JP" altLang="en-US">
                <a:solidFill>
                  <a:srgbClr val="1A1A1A"/>
                </a:solidFill>
                <a:latin typeface="游ゴシック"/>
                <a:ea typeface="游ゴシック"/>
                <a:cs typeface="游ゴシック"/>
              </a:rPr>
              <a:t>対策概要</a:t>
            </a:r>
          </a:p>
        </p:txBody>
      </p:sp>
      <p:sp>
        <p:nvSpPr>
          <p:cNvPr id="28" name="Rectangle 27"/>
          <p:cNvSpPr/>
          <p:nvPr/>
        </p:nvSpPr>
        <p:spPr>
          <a:xfrm>
            <a:off x="2441448" y="5120640"/>
            <a:ext cx="9171432" cy="694944"/>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51176" y="5120640"/>
            <a:ext cx="8951976" cy="694944"/>
          </a:xfrm>
          <a:prstGeom prst="rect">
            <a:avLst/>
          </a:prstGeom>
          <a:noFill/>
          <a:ln>
            <a:noFill/>
          </a:ln>
        </p:spPr>
        <p:txBody>
          <a:bodyPr wrap="square" anchor="ctr" lIns="50800" rIns="50800" tIns="25400" bIns="25400">
            <a:spAutoFit/>
          </a:bodyPr>
          <a:lstStyle/>
          <a:p>
            <a:pPr algn="l"/>
            <a:r>
              <a:rPr sz="1100" b="0" lang="ja-JP" altLang="en-US">
                <a:solidFill>
                  <a:srgbClr val="1A1A1A"/>
                </a:solidFill>
                <a:latin typeface="游ゴシック"/>
                <a:ea typeface="游ゴシック"/>
                <a:cs typeface="游ゴシック"/>
              </a:rPr>
              <a:t>据付け位置を事前に計画し、地盤の凹凸のない安定した場所で使用する／作業前に高所作業車が十分に安定していること（水平・地盤）を確認する／頭上に天井レール・梁がある場所ではバケットと構造物の離隔を確保する</a:t>
            </a:r>
          </a:p>
        </p:txBody>
      </p:sp>
      <p:sp>
        <p:nvSpPr>
          <p:cNvPr id="30" name="TextBox 29"/>
          <p:cNvSpPr txBox="1"/>
          <p:nvPr/>
        </p:nvSpPr>
        <p:spPr>
          <a:xfrm>
            <a:off x="566928" y="5852160"/>
            <a:ext cx="11064240" cy="274320"/>
          </a:xfrm>
          <a:prstGeom prst="rect">
            <a:avLst/>
          </a:prstGeom>
          <a:noFill/>
          <a:ln>
            <a:noFill/>
          </a:ln>
        </p:spPr>
        <p:txBody>
          <a:bodyPr wrap="square" anchor="t" lIns="50800" rIns="50800" tIns="25400" bIns="25400">
            <a:spAutoFit/>
          </a:bodyPr>
          <a:lstStyle/>
          <a:p>
            <a:pPr algn="l"/>
            <a:r>
              <a:rPr sz="1000" b="1" lang="ja-JP" altLang="en-US">
                <a:solidFill>
                  <a:srgbClr val="5E5E5E"/>
                </a:solidFill>
                <a:latin typeface="游ゴシック"/>
                <a:ea typeface="游ゴシック"/>
                <a:cs typeface="游ゴシック"/>
              </a:rPr>
              <a:t>出典：</a:t>
            </a:r>
            <a:r>
              <a:rPr sz="1000" b="0" lang="ja-JP" altLang="en-US">
                <a:solidFill>
                  <a:srgbClr val="5E5E5E"/>
                </a:solidFill>
                <a:latin typeface="游ゴシック"/>
                <a:ea typeface="游ゴシック"/>
                <a:cs typeface="游ゴシック"/>
              </a:rPr>
              <a:t>建設荷役車両安全技術協会労働災害事例　https://www.sacl.or.jp/case/disaster/1135</a:t>
            </a:r>
          </a:p>
        </p:txBody>
      </p:sp>
      <p:sp>
        <p:nvSpPr>
          <p:cNvPr id="31" name="TextBox 30"/>
          <p:cNvSpPr txBox="1"/>
          <p:nvPr/>
        </p:nvSpPr>
        <p:spPr>
          <a:xfrm>
            <a:off x="566928" y="6126480"/>
            <a:ext cx="11064240" cy="274320"/>
          </a:xfrm>
          <a:prstGeom prst="rect">
            <a:avLst/>
          </a:prstGeom>
          <a:noFill/>
          <a:ln>
            <a:noFill/>
          </a:ln>
        </p:spPr>
        <p:txBody>
          <a:bodyPr wrap="square" anchor="t" lIns="50800" rIns="50800" tIns="25400" bIns="25400">
            <a:spAutoFit/>
          </a:bodyPr>
          <a:lstStyle/>
          <a:p>
            <a:pPr algn="l"/>
            <a:r>
              <a:rPr sz="1000" b="0" lang="ja-JP" altLang="en-US">
                <a:solidFill>
                  <a:srgbClr val="8A8A8A"/>
                </a:solidFill>
                <a:latin typeface="游ゴシック"/>
                <a:ea typeface="游ゴシック"/>
                <a:cs typeface="游ゴシック"/>
              </a:rPr>
              <a:t>※ 写真はAIによる再現イメージ（実写ではありません）。公的災害事例の機序を参考にした創作（再現）事例です。</a:t>
            </a:r>
          </a:p>
        </p:txBody>
      </p:sp>
      <p:sp>
        <p:nvSpPr>
          <p:cNvPr id="32" name="TextBox 31"/>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33" name="TextBox 32"/>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01168" y="0"/>
            <a:ext cx="3996842" cy="91440"/>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98010" y="0"/>
            <a:ext cx="3996842" cy="9144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94852" y="0"/>
            <a:ext cx="3996842" cy="9144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84048"/>
            <a:ext cx="896112" cy="384048"/>
          </a:xfrm>
          <a:prstGeom prst="rect">
            <a:avLst/>
          </a:prstGeom>
          <a:solidFill>
            <a:srgbClr val="2E9E5B"/>
          </a:solidFill>
          <a:ln>
            <a:noFill/>
          </a:ln>
        </p:spPr>
        <p:txBody>
          <a:bodyPr wrap="square" anchor="ctr" lIns="50800" rIns="50800" tIns="25400" bIns="25400">
            <a:spAutoFit/>
          </a:bodyPr>
          <a:lstStyle/>
          <a:p>
            <a:pPr algn="ctr"/>
            <a:r>
              <a:rPr sz="1300" b="1" lang="ja-JP" altLang="en-US">
                <a:solidFill>
                  <a:srgbClr val="FFFFFF"/>
                </a:solidFill>
                <a:latin typeface="游ゴシック"/>
                <a:ea typeface="游ゴシック"/>
                <a:cs typeface="游ゴシック"/>
              </a:rPr>
              <a:t>まとめ</a:t>
            </a:r>
          </a:p>
        </p:txBody>
      </p:sp>
      <p:sp>
        <p:nvSpPr>
          <p:cNvPr id="7" name="TextBox 6"/>
          <p:cNvSpPr txBox="1"/>
          <p:nvPr/>
        </p:nvSpPr>
        <p:spPr>
          <a:xfrm>
            <a:off x="822960" y="1188720"/>
            <a:ext cx="10607040" cy="914400"/>
          </a:xfrm>
          <a:prstGeom prst="rect">
            <a:avLst/>
          </a:prstGeom>
          <a:noFill/>
          <a:ln>
            <a:noFill/>
          </a:ln>
        </p:spPr>
        <p:txBody>
          <a:bodyPr wrap="square" anchor="ctr" lIns="50800" rIns="50800" tIns="25400" bIns="25400">
            <a:spAutoFit/>
          </a:bodyPr>
          <a:lstStyle/>
          <a:p>
            <a:pPr algn="ctr"/>
            <a:r>
              <a:rPr sz="4400" b="1" lang="ja-JP" altLang="en-US">
                <a:solidFill>
                  <a:srgbClr val="1F3A60"/>
                </a:solidFill>
                <a:latin typeface="游ゴシック"/>
                <a:ea typeface="游ゴシック"/>
                <a:cs typeface="游ゴシック"/>
              </a:rPr>
              <a:t>科学的安全</a:t>
            </a:r>
            <a:r>
              <a:rPr sz="4400" b="1" lang="ja-JP" altLang="en-US">
                <a:solidFill>
                  <a:srgbClr val="E2231A"/>
                </a:solidFill>
                <a:latin typeface="游ゴシック"/>
                <a:ea typeface="游ゴシック"/>
                <a:cs typeface="游ゴシック"/>
              </a:rPr>
              <a:t>　×　</a:t>
            </a:r>
            <a:r>
              <a:rPr sz="4400" b="1" lang="ja-JP" altLang="en-US">
                <a:solidFill>
                  <a:srgbClr val="1F3A60"/>
                </a:solidFill>
                <a:latin typeface="游ゴシック"/>
                <a:ea typeface="游ゴシック"/>
                <a:cs typeface="游ゴシック"/>
              </a:rPr>
              <a:t>自動化</a:t>
            </a:r>
          </a:p>
        </p:txBody>
      </p:sp>
      <p:sp>
        <p:nvSpPr>
          <p:cNvPr id="8" name="TextBox 7"/>
          <p:cNvSpPr txBox="1"/>
          <p:nvPr/>
        </p:nvSpPr>
        <p:spPr>
          <a:xfrm>
            <a:off x="822960" y="2212848"/>
            <a:ext cx="10607040" cy="457200"/>
          </a:xfrm>
          <a:prstGeom prst="rect">
            <a:avLst/>
          </a:prstGeom>
          <a:noFill/>
          <a:ln>
            <a:noFill/>
          </a:ln>
        </p:spPr>
        <p:txBody>
          <a:bodyPr wrap="square" anchor="ctr" lIns="50800" rIns="50800" tIns="25400" bIns="25400">
            <a:spAutoFit/>
          </a:bodyPr>
          <a:lstStyle/>
          <a:p>
            <a:pPr algn="ctr"/>
            <a:r>
              <a:rPr sz="1800" b="0" lang="ja-JP" altLang="en-US">
                <a:solidFill>
                  <a:srgbClr val="5E5E5E"/>
                </a:solidFill>
                <a:latin typeface="游ゴシック"/>
                <a:ea typeface="游ゴシック"/>
                <a:cs typeface="游ゴシック"/>
              </a:rPr>
              <a:t>経験と勘に頼らない安全教育を、速く・安く・誰でも同じ品質で。</a:t>
            </a:r>
          </a:p>
        </p:txBody>
      </p:sp>
      <p:sp>
        <p:nvSpPr>
          <p:cNvPr id="9" name="Rectangle 8"/>
          <p:cNvSpPr/>
          <p:nvPr/>
        </p:nvSpPr>
        <p:spPr>
          <a:xfrm>
            <a:off x="713232" y="3017520"/>
            <a:ext cx="5212080" cy="1627632"/>
          </a:xfrm>
          <a:prstGeom prst="rect">
            <a:avLst/>
          </a:prstGeom>
          <a:solidFill>
            <a:srgbClr val="F3F5F8"/>
          </a:solidFill>
          <a:ln w="25400">
            <a:solidFill>
              <a:srgbClr val="1F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3017520"/>
            <a:ext cx="146304" cy="1627632"/>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 y="3218688"/>
            <a:ext cx="4608576" cy="548640"/>
          </a:xfrm>
          <a:prstGeom prst="rect">
            <a:avLst/>
          </a:prstGeom>
          <a:noFill/>
          <a:ln>
            <a:noFill/>
          </a:ln>
        </p:spPr>
        <p:txBody>
          <a:bodyPr wrap="square" anchor="t" lIns="50800" rIns="50800" tIns="25400" bIns="25400">
            <a:spAutoFit/>
          </a:bodyPr>
          <a:lstStyle/>
          <a:p>
            <a:pPr algn="l"/>
            <a:r>
              <a:rPr sz="2400" b="1" lang="ja-JP" altLang="en-US">
                <a:solidFill>
                  <a:srgbClr val="1F3A60"/>
                </a:solidFill>
                <a:latin typeface="游ゴシック"/>
                <a:ea typeface="游ゴシック"/>
                <a:cs typeface="游ゴシック"/>
              </a:rPr>
              <a:t>データに基づく</a:t>
            </a:r>
          </a:p>
        </p:txBody>
      </p:sp>
      <p:sp>
        <p:nvSpPr>
          <p:cNvPr id="12" name="TextBox 11"/>
          <p:cNvSpPr txBox="1"/>
          <p:nvPr/>
        </p:nvSpPr>
        <p:spPr>
          <a:xfrm>
            <a:off x="1133856" y="3858768"/>
            <a:ext cx="4608576" cy="676656"/>
          </a:xfrm>
          <a:prstGeom prst="rect">
            <a:avLst/>
          </a:prstGeom>
          <a:noFill/>
          <a:ln>
            <a:noFill/>
          </a:ln>
        </p:spPr>
        <p:txBody>
          <a:bodyPr wrap="square" anchor="t" lIns="50800" rIns="50800" tIns="25400" bIns="25400">
            <a:spAutoFit/>
          </a:bodyPr>
          <a:lstStyle/>
          <a:p>
            <a:pPr algn="l"/>
            <a:r>
              <a:rPr sz="1400" b="0" lang="ja-JP" altLang="en-US">
                <a:solidFill>
                  <a:srgbClr val="1A1A1A"/>
                </a:solidFill>
                <a:latin typeface="游ゴシック"/>
                <a:ea typeface="游ゴシック"/>
                <a:cs typeface="游ゴシック"/>
              </a:rPr>
              <a:t>約42万件の災害分析で、守る急所を科学的に特定。</a:t>
            </a:r>
          </a:p>
        </p:txBody>
      </p:sp>
      <p:sp>
        <p:nvSpPr>
          <p:cNvPr id="13" name="Rectangle 12"/>
          <p:cNvSpPr/>
          <p:nvPr/>
        </p:nvSpPr>
        <p:spPr>
          <a:xfrm>
            <a:off x="6291072" y="3017520"/>
            <a:ext cx="5212080" cy="1627632"/>
          </a:xfrm>
          <a:prstGeom prst="rect">
            <a:avLst/>
          </a:prstGeom>
          <a:solidFill>
            <a:srgbClr val="F3F5F8"/>
          </a:solidFill>
          <a:ln w="25400">
            <a:solidFill>
              <a:srgbClr val="E22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1072" y="3017520"/>
            <a:ext cx="146304" cy="1627632"/>
          </a:xfrm>
          <a:prstGeom prst="rect">
            <a:avLst/>
          </a:prstGeom>
          <a:solidFill>
            <a:srgbClr val="E22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11696" y="3218688"/>
            <a:ext cx="4608576" cy="548640"/>
          </a:xfrm>
          <a:prstGeom prst="rect">
            <a:avLst/>
          </a:prstGeom>
          <a:noFill/>
          <a:ln>
            <a:noFill/>
          </a:ln>
        </p:spPr>
        <p:txBody>
          <a:bodyPr wrap="square" anchor="t" lIns="50800" rIns="50800" tIns="25400" bIns="25400">
            <a:spAutoFit/>
          </a:bodyPr>
          <a:lstStyle/>
          <a:p>
            <a:pPr algn="l"/>
            <a:r>
              <a:rPr sz="2400" b="1" lang="ja-JP" altLang="en-US">
                <a:solidFill>
                  <a:srgbClr val="E2231A"/>
                </a:solidFill>
                <a:latin typeface="游ゴシック"/>
                <a:ea typeface="游ゴシック"/>
                <a:cs typeface="游ゴシック"/>
              </a:rPr>
              <a:t>AIで量産</a:t>
            </a:r>
          </a:p>
        </p:txBody>
      </p:sp>
      <p:sp>
        <p:nvSpPr>
          <p:cNvPr id="16" name="TextBox 15"/>
          <p:cNvSpPr txBox="1"/>
          <p:nvPr/>
        </p:nvSpPr>
        <p:spPr>
          <a:xfrm>
            <a:off x="6711696" y="3858768"/>
            <a:ext cx="4608576" cy="676656"/>
          </a:xfrm>
          <a:prstGeom prst="rect">
            <a:avLst/>
          </a:prstGeom>
          <a:noFill/>
          <a:ln>
            <a:noFill/>
          </a:ln>
        </p:spPr>
        <p:txBody>
          <a:bodyPr wrap="square" anchor="t" lIns="50800" rIns="50800" tIns="25400" bIns="25400">
            <a:spAutoFit/>
          </a:bodyPr>
          <a:lstStyle/>
          <a:p>
            <a:pPr algn="l"/>
            <a:r>
              <a:rPr sz="1400" b="0" lang="ja-JP" altLang="en-US">
                <a:solidFill>
                  <a:srgbClr val="1A1A1A"/>
                </a:solidFill>
                <a:latin typeface="游ゴシック"/>
                <a:ea typeface="游ゴシック"/>
                <a:cs typeface="游ゴシック"/>
              </a:rPr>
              <a:t>事故事例教材を属人化させず、速く更新し続ける。</a:t>
            </a:r>
          </a:p>
        </p:txBody>
      </p:sp>
      <p:sp>
        <p:nvSpPr>
          <p:cNvPr id="17" name="Rectangle 16"/>
          <p:cNvSpPr/>
          <p:nvPr/>
        </p:nvSpPr>
        <p:spPr>
          <a:xfrm>
            <a:off x="713232" y="5138928"/>
            <a:ext cx="10771632" cy="877824"/>
          </a:xfrm>
          <a:prstGeom prst="rect">
            <a:avLst/>
          </a:prstGeom>
          <a:solidFill>
            <a:srgbClr val="1F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138928"/>
            <a:ext cx="6583680" cy="877824"/>
          </a:xfrm>
          <a:prstGeom prst="rect">
            <a:avLst/>
          </a:prstGeom>
          <a:noFill/>
          <a:ln>
            <a:noFill/>
          </a:ln>
        </p:spPr>
        <p:txBody>
          <a:bodyPr wrap="square" anchor="ctr" lIns="50800" rIns="50800" tIns="25400" bIns="25400">
            <a:spAutoFit/>
          </a:bodyPr>
          <a:lstStyle/>
          <a:p>
            <a:pPr algn="l">
              <a:spcAft>
                <a:spcPts val="200"/>
              </a:spcAft>
            </a:pPr>
            <a:r>
              <a:rPr sz="1200" b="1" lang="ja-JP" altLang="en-US">
                <a:solidFill>
                  <a:srgbClr val="F2B705"/>
                </a:solidFill>
                <a:latin typeface="游ゴシック"/>
                <a:ea typeface="游ゴシック"/>
                <a:cs typeface="游ゴシック"/>
              </a:rPr>
              <a:t>お問い合わせ</a:t>
            </a:r>
          </a:p>
          <a:p>
            <a:pPr algn="l"/>
            <a:r>
              <a:rPr sz="1700" b="1" lang="ja-JP" altLang="en-US">
                <a:solidFill>
                  <a:srgbClr val="FFFFFF"/>
                </a:solidFill>
                <a:latin typeface="游ゴシック"/>
                <a:ea typeface="游ゴシック"/>
                <a:cs typeface="游ゴシック"/>
              </a:rPr>
              <a:t>kenshi.ycc@gmail.com</a:t>
            </a:r>
          </a:p>
        </p:txBody>
      </p:sp>
      <p:sp>
        <p:nvSpPr>
          <p:cNvPr id="19" name="TextBox 18"/>
          <p:cNvSpPr txBox="1"/>
          <p:nvPr/>
        </p:nvSpPr>
        <p:spPr>
          <a:xfrm>
            <a:off x="7315200" y="5138928"/>
            <a:ext cx="3931920" cy="877824"/>
          </a:xfrm>
          <a:prstGeom prst="rect">
            <a:avLst/>
          </a:prstGeom>
          <a:noFill/>
          <a:ln>
            <a:noFill/>
          </a:ln>
        </p:spPr>
        <p:txBody>
          <a:bodyPr wrap="square" anchor="ctr" lIns="50800" rIns="50800" tIns="25400" bIns="25400">
            <a:spAutoFit/>
          </a:bodyPr>
          <a:lstStyle/>
          <a:p>
            <a:pPr algn="r">
              <a:spcAft>
                <a:spcPts val="200"/>
              </a:spcAft>
            </a:pPr>
            <a:r>
              <a:rPr sz="1100" b="1" lang="ja-JP" altLang="en-US">
                <a:solidFill>
                  <a:srgbClr val="F2B705"/>
                </a:solidFill>
                <a:latin typeface="游ゴシック"/>
                <a:ea typeface="游ゴシック"/>
                <a:cs typeface="游ゴシック"/>
              </a:rPr>
              <a:t>監修</a:t>
            </a:r>
          </a:p>
          <a:p>
            <a:pPr algn="r"/>
            <a:r>
              <a:rPr sz="1500" b="1" lang="ja-JP" altLang="en-US">
                <a:solidFill>
                  <a:srgbClr val="FFFFFF"/>
                </a:solidFill>
                <a:latin typeface="游ゴシック"/>
                <a:ea typeface="游ゴシック"/>
                <a:cs typeface="游ゴシック"/>
              </a:rPr>
              <a:t>金田 義太</a:t>
            </a:r>
          </a:p>
          <a:p>
            <a:pPr algn="r"/>
            <a:r>
              <a:rPr sz="1000" b="0" lang="ja-JP" altLang="en-US">
                <a:solidFill>
                  <a:srgbClr val="C8D2E0"/>
                </a:solidFill>
                <a:latin typeface="游ゴシック"/>
                <a:ea typeface="游ゴシック"/>
                <a:cs typeface="游ゴシック"/>
              </a:rPr>
              <a:t>労働安全コンサルタント 登録第4840号</a:t>
            </a:r>
          </a:p>
        </p:txBody>
      </p:sp>
      <p:sp>
        <p:nvSpPr>
          <p:cNvPr id="20" name="TextBox 19"/>
          <p:cNvSpPr txBox="1"/>
          <p:nvPr/>
        </p:nvSpPr>
        <p:spPr>
          <a:xfrm>
            <a:off x="365760" y="6437376"/>
            <a:ext cx="8686800" cy="310896"/>
          </a:xfrm>
          <a:prstGeom prst="rect">
            <a:avLst/>
          </a:prstGeom>
          <a:noFill/>
          <a:ln>
            <a:noFill/>
          </a:ln>
        </p:spPr>
        <p:txBody>
          <a:bodyPr wrap="square" anchor="ctr" lIns="50800" rIns="50800" tIns="25400" bIns="25400">
            <a:spAutoFit/>
          </a:bodyPr>
          <a:lstStyle/>
          <a:p>
            <a:pPr algn="l"/>
            <a:r>
              <a:rPr sz="900" b="0" lang="ja-JP" altLang="en-US">
                <a:solidFill>
                  <a:srgbClr val="8A8A8A"/>
                </a:solidFill>
                <a:latin typeface="游ゴシック"/>
                <a:ea typeface="游ゴシック"/>
                <a:cs typeface="游ゴシック"/>
              </a:rPr>
              <a:t>監修：金田 義太（労働安全コンサルタント 登録第4840号）</a:t>
            </a:r>
          </a:p>
        </p:txBody>
      </p:sp>
      <p:sp>
        <p:nvSpPr>
          <p:cNvPr id="21" name="TextBox 20"/>
          <p:cNvSpPr txBox="1"/>
          <p:nvPr/>
        </p:nvSpPr>
        <p:spPr>
          <a:xfrm>
            <a:off x="11475720" y="6437376"/>
            <a:ext cx="502920" cy="310896"/>
          </a:xfrm>
          <a:prstGeom prst="rect">
            <a:avLst/>
          </a:prstGeom>
          <a:noFill/>
          <a:ln>
            <a:noFill/>
          </a:ln>
        </p:spPr>
        <p:txBody>
          <a:bodyPr wrap="square" anchor="ctr" lIns="50800" rIns="50800" tIns="25400" bIns="25400">
            <a:spAutoFit/>
          </a:bodyPr>
          <a:lstStyle/>
          <a:p>
            <a:pPr algn="r"/>
            <a:r>
              <a:rPr sz="1000" b="0" lang="ja-JP" altLang="en-US">
                <a:solidFill>
                  <a:srgbClr val="8A8A8A"/>
                </a:solidFill>
                <a:latin typeface="游ゴシック"/>
                <a:ea typeface="游ゴシック"/>
                <a:cs typeface="游ゴシック"/>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