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74519"/>
            <a:ext cx="10515600" cy="18288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テールゲートリフター・高所作業車</a:t>
            </a:r>
          </a:p>
          <a:p>
            <a:pPr algn="l"/>
            <a:r>
              <a:rPr sz="44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重大事故事例集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70332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設営・搬入・撤去・会場高所作業の現場で起きる重大災害と対策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470916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7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株式会社 博展　御中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25780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作成日：2026年6月13日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650992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5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監修：労働安全コンサルタント（土木）　金田 義太（登録第4840号）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8" name="Picture 7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統計で見る　テールゲートリフター（TGL）災害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出典：JNIOSH／厚生労働省 職場のあんぜんサイト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3474720" cy="1371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6600" b="1">
                <a:solidFill>
                  <a:srgbClr val="FF0000"/>
                </a:solidFill>
                <a:latin typeface="游ゴシック"/>
                <a:ea typeface="游ゴシック"/>
                <a:cs typeface="游ゴシック"/>
              </a:rPr>
              <a:t>558〜632</a:t>
            </a:r>
            <a:r>
              <a:rPr sz="2000" b="1">
                <a:solidFill>
                  <a:srgbClr val="FF0000"/>
                </a:solidFill>
                <a:latin typeface="游ゴシック"/>
                <a:ea typeface="游ゴシック"/>
                <a:cs typeface="游ゴシック"/>
              </a:rPr>
              <a:t>件／年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26080"/>
            <a:ext cx="347472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TGL起因の労働災害（推計・休業4日以上）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43400" y="1600200"/>
            <a:ext cx="3474720" cy="1371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66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42.3</a:t>
            </a:r>
            <a:r>
              <a:rPr sz="20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2926080"/>
            <a:ext cx="347472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作業者が昇降板上で転倒・転落して死傷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1600200"/>
            <a:ext cx="3474720" cy="1371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66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約8</a:t>
            </a:r>
            <a:r>
              <a:rPr sz="20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926080"/>
            <a:ext cx="347472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TGL災害が運輸業で発生（荷役作業に共通）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77639"/>
            <a:ext cx="11064240" cy="1920240"/>
          </a:xfrm>
          <a:prstGeom prst="rect">
            <a:avLst/>
          </a:prstGeom>
          <a:solidFill>
            <a:srgbClr val="F5F5F5"/>
          </a:solidFill>
          <a:ln w="12700">
            <a:solidFill>
              <a:srgbClr val="D9D9D9"/>
            </a:solidFill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【法改正】2024年（令和6年）2月1日 施行　</a:t>
            </a:r>
            <a:r>
              <a:rPr sz="16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テールゲートリフターで荷を積み卸す作業に「特別教育」が義務化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　根拠：労働安全衛生法 第59条第3項／労働安全衛生規則 第36条の改正（第五号の四）。教育は学科4時間以上＋実技2時間以上。</a:t>
            </a:r>
          </a:p>
          <a:p>
            <a:pPr algn="l"/>
            <a:r>
              <a:rPr sz="125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　設営搬入・撤去でTGLを用いて資材を積み卸す作業も対象。未修了者の従事は法令違反となる。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2" name="Picture 11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統計で見る　高所作業車 災害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出典：建荷協（建設荷役車両安全技術協会）／厚生労働省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3474720" cy="1371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6000" b="1">
                <a:solidFill>
                  <a:srgbClr val="FF0000"/>
                </a:solidFill>
                <a:latin typeface="游ゴシック"/>
                <a:ea typeface="游ゴシック"/>
                <a:cs typeface="游ゴシック"/>
              </a:rPr>
              <a:t>6</a:t>
            </a:r>
            <a:r>
              <a:rPr sz="2000" b="1">
                <a:solidFill>
                  <a:srgbClr val="FF0000"/>
                </a:solidFill>
                <a:latin typeface="游ゴシック"/>
                <a:ea typeface="游ゴシック"/>
                <a:cs typeface="游ゴシック"/>
              </a:rPr>
              <a:t>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26080"/>
            <a:ext cx="347472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高所作業車を起因物とする死亡（令和2年・建設5/運輸1）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43400" y="1600200"/>
            <a:ext cx="3474720" cy="1371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30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墜落・転落</a:t>
            </a:r>
            <a:r>
              <a:rPr sz="20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が最多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2926080"/>
            <a:ext cx="347472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次いで はさまれ → 転倒 → 激突され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1600200"/>
            <a:ext cx="3474720" cy="1371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60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700</a:t>
            </a:r>
            <a:r>
              <a:rPr sz="20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926080"/>
            <a:ext cx="347472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令和7年 労働災害死亡者（全産業・過去最少／2026.5.27公表）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77639"/>
            <a:ext cx="11064240" cy="1920240"/>
          </a:xfrm>
          <a:prstGeom prst="rect">
            <a:avLst/>
          </a:prstGeom>
          <a:solidFill>
            <a:srgbClr val="F5F5F5"/>
          </a:solidFill>
          <a:ln w="12700">
            <a:solidFill>
              <a:srgbClr val="D9D9D9"/>
            </a:solidFill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【傾向】</a:t>
            </a:r>
            <a:r>
              <a:rPr sz="1300" b="0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事故の型は「墜落・転落」が最多。業種は建設業中心だが、製造業・ビルメンテ・樹木剪定・イベント設営等でも発生。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　会場設営の高所作業（トラス・サイン・照明の取付け／撤去）も同じ災害リスクを負う。</a:t>
            </a:r>
          </a:p>
          <a:p>
            <a:pPr algn="l"/>
            <a:r>
              <a:rPr sz="11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　※高所作業車「単独」の年間死傷者総数を示す公的確定統計は数表として未公表（本資料では「未確認」と表記）。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2" name="Picture 11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① テールゲートリフター 昇降板からの墜落</a:t>
            </a:r>
          </a:p>
        </p:txBody>
      </p:sp>
      <p:pic>
        <p:nvPicPr>
          <p:cNvPr id="3" name="Picture 2" descr="gen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81328"/>
            <a:ext cx="7315200" cy="3993013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6309360" y="2519511"/>
            <a:ext cx="731520" cy="1157974"/>
          </a:xfrm>
          <a:prstGeom prst="line">
            <a:avLst/>
          </a:prstGeom>
          <a:ln w="4318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>
            <a:off x="5577840" y="3877135"/>
            <a:ext cx="457200" cy="457200"/>
          </a:xfrm>
          <a:prstGeom prst="triangle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 bIns="0"/>
          <a:lstStyle/>
          <a:p>
            <a:pPr algn="ctr"/>
            <a:r>
              <a:rPr sz="13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75888" y="1880629"/>
            <a:ext cx="85953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050" b="0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積荷（ドラム缶）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0016" y="4436157"/>
            <a:ext cx="5715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050" b="0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縁・柵なし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1572768"/>
            <a:ext cx="37947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⚠ ここが危険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2194560"/>
            <a:ext cx="3794760" cy="1783080"/>
          </a:xfrm>
          <a:prstGeom prst="rect">
            <a:avLst/>
          </a:prstGeom>
          <a:solidFill>
            <a:srgbClr val="FCF3F3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昇降板の端や後退動作で足を踏み外し、頭から転落。落下した荷の下敷きにも。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4114800"/>
            <a:ext cx="37947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想定される結果：死亡・重篤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5074920"/>
            <a:ext cx="37947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詳細・対策は次ページ 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3" name="Picture 12" descr="footer_strip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① テールゲートリフター 昇降板からの墜落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91672" cy="4526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400"/>
                <a:gridCol w="9034272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発覚日時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—（JNIOSH 公表分析事例／2011〜2012年）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プロジェクト名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運輸業（貨物自動車運送）／TGL昇降板上での重量物（200Lドラム缶）取卸し作業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発生事象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後ろ向きに荷を扱う作業者が、縁・柵のない昇降板の後端を踏み外して頭部から地面へ転落。さらに落下したドラム缶の下敷きとなり被災。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原因概要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後ろ向き姿勢で足元の視界・確認が不十分／昇降板に縁（柵）がなく踏み外しを防げない構造／重量物を人力で扱う不安定作業。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対応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5E5E5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対策概要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・昇降板上は前向き作業とし、端部・縁に立たない（中央寄りで作業）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・安全柵付きTGLの採用、端部の表示・滑り止めを徹底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・重量物はカゴ車等で固定し、人力での後退移動を排除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出典：JNIOSH 公表事例（報告 houkoku_2018_01／コラム No.118）（厚生労働省 職場のあんぜんサイト 等）</a:t>
            </a:r>
          </a:p>
          <a:p>
            <a:pPr algn="l"/>
            <a:r>
              <a:rPr sz="1050" b="1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博展の現場では：</a:t>
            </a:r>
            <a:r>
              <a:rPr sz="105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設営搬入でブース資材を降ろす際、昇降板の端に立たず前向き・中央で扱う。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6" name="Picture 5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② テールゲートリフター 昇降中のはさまれ</a:t>
            </a:r>
          </a:p>
        </p:txBody>
      </p:sp>
      <p:pic>
        <p:nvPicPr>
          <p:cNvPr id="3" name="Picture 2" descr="gen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81328"/>
            <a:ext cx="7315200" cy="3993013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 flipH="1">
            <a:off x="4480560" y="3318113"/>
            <a:ext cx="512064" cy="559022"/>
          </a:xfrm>
          <a:prstGeom prst="line">
            <a:avLst/>
          </a:prstGeom>
          <a:ln w="4318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>
            <a:off x="4480560" y="3797275"/>
            <a:ext cx="457200" cy="457200"/>
          </a:xfrm>
          <a:prstGeom prst="triangle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 bIns="0"/>
          <a:lstStyle/>
          <a:p>
            <a:pPr algn="ctr"/>
            <a:r>
              <a:rPr sz="13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2679231"/>
            <a:ext cx="133959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050" b="0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昇降板と荷台・地面のすき間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1572768"/>
            <a:ext cx="37947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⚠ ここが危険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2194560"/>
            <a:ext cx="3794760" cy="1783080"/>
          </a:xfrm>
          <a:prstGeom prst="rect">
            <a:avLst/>
          </a:prstGeom>
          <a:solidFill>
            <a:srgbClr val="FCF3F3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人が乗ったまま昇降板を動かし、足が荷台・地面との隙間に挟まれる。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4114800"/>
            <a:ext cx="37947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想定される結果：骨折・重篤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5074920"/>
            <a:ext cx="37947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詳細・対策は次ページ 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2" name="Picture 11" descr="footer_strip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② テールゲートリフター 昇降中のはさまれ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91672" cy="4526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400"/>
                <a:gridCol w="9034272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発覚日時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—（JNIOSH 分析／あんぜんサイト ヒヤリ・ハット hiy_0448）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プロジェクト名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一般貨物自動車運送業／TGL昇降板の昇降操作中の荷役作業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発生事象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昇降板に乗って移動した際、足が荷台と昇降板の間に挟まれた。TGL災害の約2割が昇降動作中に発生している。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原因概要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人が乗ったまま昇降板を動かす不適正使用／昇降板と荷台・地面の隙間に身体が入る位置取り／はさまれ危険の認識不足。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対応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5E5E5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対策概要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・昇降板の昇降中は人を乗せない・隙間付近に手足を置かない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・TGLは「荷専用」と認識し、人の昇降に使わない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・動作中の立ち位置ルールと相互の声掛けを徹底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出典：JNIOSH コラム No.118 ／ あんぜんサイト hiy_0448（厚生労働省 職場のあんぜんサイト 等）</a:t>
            </a:r>
          </a:p>
          <a:p>
            <a:pPr algn="l"/>
            <a:r>
              <a:rPr sz="1050" b="1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博展の現場では：</a:t>
            </a:r>
            <a:r>
              <a:rPr sz="105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撤去時、作業者は昇降板に乗って降りない。荷だけを載せ、操作者は地上から行う。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6" name="Picture 5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③ テールゲートリフター カゴ車の転倒・下敷き</a:t>
            </a:r>
          </a:p>
        </p:txBody>
      </p:sp>
      <p:pic>
        <p:nvPicPr>
          <p:cNvPr id="3" name="Picture 2" descr="gen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81328"/>
            <a:ext cx="7315200" cy="3993013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4846320" y="2838952"/>
            <a:ext cx="1316736" cy="958323"/>
          </a:xfrm>
          <a:prstGeom prst="line">
            <a:avLst/>
          </a:prstGeom>
          <a:ln w="4318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>
            <a:off x="4041648" y="3477834"/>
            <a:ext cx="457200" cy="457200"/>
          </a:xfrm>
          <a:prstGeom prst="triangle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 bIns="0"/>
          <a:lstStyle/>
          <a:p>
            <a:pPr algn="ctr"/>
            <a:r>
              <a:rPr sz="13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29584" y="1641048"/>
            <a:ext cx="1243584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050" b="0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カゴ車（ロールボックス）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3877135"/>
            <a:ext cx="5715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050" b="0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段差・傾斜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1572768"/>
            <a:ext cx="37947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⚠ ここが危険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2194560"/>
            <a:ext cx="3794760" cy="1783080"/>
          </a:xfrm>
          <a:prstGeom prst="rect">
            <a:avLst/>
          </a:prstGeom>
          <a:solidFill>
            <a:srgbClr val="FCF3F3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段差・傾斜・固定不良でカゴ車が昇降板上で転倒し、作業者が下敷きに。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4114800"/>
            <a:ext cx="37947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想定される結果：下敷き・重篤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5074920"/>
            <a:ext cx="37947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詳細・対策は次ページ 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3" name="Picture 12" descr="footer_strip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③ テールゲートリフター カゴ車の転倒・下敷き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91672" cy="4526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400"/>
                <a:gridCol w="9034272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発覚日時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—（あんぜんサイト 労働災害事例 No.55）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プロジェクト名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陸上貨物運送業／トラック荷台からロールボックスパレット（カゴ車）を取卸す作業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発生事象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荷台と昇降板・渡り板の段差や傾斜でカゴ車がバランスを崩して転倒し、作業者が下敷き・激突した。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原因概要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渡り板の急勾配・段差／カゴ車のキャスターロック等の固定不良／単独作業・危険認識不足。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対応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5E5E5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対策概要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・カゴ車のキャスターストッパーと昇降板上での固定を確実に行う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・段差・傾斜を解消し、平坦な状態で移動させる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・重量カゴ車は複数人で扱い、転倒側に立たない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出典：あんぜんサイト 労働災害事例 No.55（厚生労働省 職場のあんぜんサイト 等）</a:t>
            </a:r>
          </a:p>
          <a:p>
            <a:pPr algn="l"/>
            <a:r>
              <a:rPr sz="1050" b="1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博展の現場では：</a:t>
            </a:r>
            <a:r>
              <a:rPr sz="105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1t台車・カゴ台車での資材搬出入は、ロック確認・段差解消・転倒側に立たないを徹底。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6" name="Picture 5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④ 高所作業車 バケットからの墜落</a:t>
            </a:r>
          </a:p>
        </p:txBody>
      </p:sp>
      <p:pic>
        <p:nvPicPr>
          <p:cNvPr id="3" name="Picture 2" descr="gen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81328"/>
            <a:ext cx="7315200" cy="3993013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6309360" y="2279930"/>
            <a:ext cx="731520" cy="958323"/>
          </a:xfrm>
          <a:prstGeom prst="line">
            <a:avLst/>
          </a:prstGeom>
          <a:ln w="4318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>
            <a:off x="5138928" y="2120210"/>
            <a:ext cx="457200" cy="457200"/>
          </a:xfrm>
          <a:prstGeom prst="triangle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 bIns="0"/>
          <a:lstStyle/>
          <a:p>
            <a:pPr algn="ctr"/>
            <a:r>
              <a:rPr sz="13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22192" y="1561188"/>
            <a:ext cx="1147572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050" b="0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手すりから身を乗り出し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63056" y="3158393"/>
            <a:ext cx="955547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050" b="0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安全帯フック未掛け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1572768"/>
            <a:ext cx="37947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⚠ ここが危険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2194560"/>
            <a:ext cx="3794760" cy="1783080"/>
          </a:xfrm>
          <a:prstGeom prst="rect">
            <a:avLst/>
          </a:prstGeom>
          <a:solidFill>
            <a:srgbClr val="FCF3F3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手すりから身を乗り出し、安全帯（フック）未使用でバケットから墜落。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4114800"/>
            <a:ext cx="37947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想定される結果：死亡・重篤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5074920"/>
            <a:ext cx="37947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詳細・対策は次ページ 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3" name="Picture 12" descr="footer_strip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④ 高所作業車 バケットからの墜落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91672" cy="4526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400"/>
                <a:gridCol w="9034272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発覚日時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—（あんぜんサイト 労働災害事例 No.549）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プロジェクト名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建設業／高所作業車のバケットで柱間に部材を取付ける高所作業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発生事象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バケット内で身を乗り出した不安定姿勢で作業中、墜落・はさまれにより被災した。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原因概要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手すり越し・身を乗り出しの不安定姿勢／墜落制止用器具（安全帯）の確実な使用・フック掛けの不徹底／作業計画の不備。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対応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5E5E5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対策概要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・手すりから身を乗り出さず、作業対象にバケットを正対・接近させる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・墜落制止用器具をバケット内の堅固な設備に常時フック掛け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・作業計画書を作成・周知し、安全な作業半径を確保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出典：あんぜんサイト 労働災害事例 No.549（安全帯論点 No.507）（厚生労働省 職場のあんぜんサイト 等）</a:t>
            </a:r>
          </a:p>
          <a:p>
            <a:pPr algn="l"/>
            <a:r>
              <a:rPr sz="1050" b="1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博展の現場では：</a:t>
            </a:r>
            <a:r>
              <a:rPr sz="105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高所のトラス・サイン取付けはバケットを対象へ寄せ、フルハーネスを常時フック掛け。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6" name="Picture 5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⑤ 高所作業車 走行・旋回中の転倒</a:t>
            </a:r>
          </a:p>
        </p:txBody>
      </p:sp>
      <p:pic>
        <p:nvPicPr>
          <p:cNvPr id="3" name="Picture 2" descr="gen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81328"/>
            <a:ext cx="7315200" cy="3993013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 flipH="1">
            <a:off x="1700784" y="4116716"/>
            <a:ext cx="950976" cy="638882"/>
          </a:xfrm>
          <a:prstGeom prst="line">
            <a:avLst/>
          </a:prstGeom>
          <a:ln w="4318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>
            <a:off x="2798064" y="4595878"/>
            <a:ext cx="457200" cy="457200"/>
          </a:xfrm>
          <a:prstGeom prst="triangle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 bIns="0"/>
          <a:lstStyle/>
          <a:p>
            <a:pPr algn="ctr"/>
            <a:r>
              <a:rPr sz="13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7632" y="4995179"/>
            <a:ext cx="133959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050" b="0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アウトリガー未設置／傾斜地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1572768"/>
            <a:ext cx="37947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⚠ ここが危険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2194560"/>
            <a:ext cx="3794760" cy="1783080"/>
          </a:xfrm>
          <a:prstGeom prst="rect">
            <a:avLst/>
          </a:prstGeom>
          <a:solidFill>
            <a:srgbClr val="FCF3F3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傾斜・不整地・アウトリガー未設置で車両ごと転倒、搭乗者が激突。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4114800"/>
            <a:ext cx="37947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想定される結果：死亡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5074920"/>
            <a:ext cx="37947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詳細・対策は次ページ 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2" name="Picture 11" descr="footer_strip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⑤ 高所作業車 走行・旋回中の転倒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91672" cy="4526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400"/>
                <a:gridCol w="9034272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発覚日時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—（あんぜんサイト 労働災害事例 No.101377）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プロジェクト名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建設業／最大作業高さ約12mの高所作業車を用いた約10m高所での作業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発生事象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作業中に高所作業車が後方へ転倒し、バケット搭乗者が地面に激突。転倒前に警告音（予兆）があったが作業を継続していた。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原因概要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傾斜・軟弱地盤など設置場所の不適切／アウトリガー未設置／転倒のおそれがある状況での作業継続。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対応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5E5E5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対策概要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・平坦・堅固な地盤に設置し、アウトリガーを確実に張り出す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・異常音・傾き等の予兆があれば直ちに作業を中止する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・事前に作業計画を策定し、設置面の状態を点検する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出典：あんぜんサイト 労働災害事例 No.101377（被災程度：死亡）（厚生労働省 職場のあんぜんサイト 等）</a:t>
            </a:r>
          </a:p>
          <a:p>
            <a:pPr algn="l"/>
            <a:r>
              <a:rPr sz="1050" b="1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博展の現場では：</a:t>
            </a:r>
            <a:r>
              <a:rPr sz="105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屋外イベント・搬入路の不整地や養生段差では、設置面を点検しアウトリガーを必ず展開。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6" name="Picture 5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⑥ 高所作業車 上方構造物とのはさまれ</a:t>
            </a:r>
          </a:p>
        </p:txBody>
      </p:sp>
      <p:pic>
        <p:nvPicPr>
          <p:cNvPr id="3" name="Picture 2" descr="gen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81328"/>
            <a:ext cx="7315200" cy="3993013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 flipV="1">
            <a:off x="4700016" y="2279930"/>
            <a:ext cx="0" cy="638882"/>
          </a:xfrm>
          <a:prstGeom prst="line">
            <a:avLst/>
          </a:prstGeom>
          <a:ln w="4318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>
            <a:off x="4992624" y="2080279"/>
            <a:ext cx="457200" cy="457200"/>
          </a:xfrm>
          <a:prstGeom prst="triangle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 bIns="0"/>
          <a:lstStyle/>
          <a:p>
            <a:pPr algn="ctr"/>
            <a:r>
              <a:rPr sz="13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641048"/>
            <a:ext cx="763524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050" b="0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天井トラス・梁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85232" y="2679231"/>
            <a:ext cx="10515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050" b="0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頭上クリアランス不足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1572768"/>
            <a:ext cx="37947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⚠ ここが危険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2194560"/>
            <a:ext cx="3794760" cy="1783080"/>
          </a:xfrm>
          <a:prstGeom prst="rect">
            <a:avLst/>
          </a:prstGeom>
          <a:solidFill>
            <a:srgbClr val="FCF3F3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旋回・操作中にバケットと梁・天井トラス等の間に挟まれる。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4114800"/>
            <a:ext cx="37947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想定される結果：はさまれ・重篤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5074920"/>
            <a:ext cx="37947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詳細・対策は次ページ 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3" name="Picture 12" descr="footer_strip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⑥ 高所作業車 上方構造物とのはさまれ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91672" cy="4526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400"/>
                <a:gridCol w="9034272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発覚日時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—（あんぜんサイト 労働災害事例 No.401）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プロジェクト名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化学工場等／地上約6mのパイプラックを高所作業車のバケットで配管・塗装する作業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発生事象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ブームを縮めながら旋回させた際、バケットと構造物（パイプラック）の間に挟まれた。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原因概要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バケットと構造物との離隔確保不足／旋回・操作時の安全確認不足／合図・連携不足。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対応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5E5E5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対策概要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・旋回・移動前に上方・側方構造物との離隔を確認し、構造物際で旋回させない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・操作は資格者が行い、合図・誘導者を配置して連携する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・作業計画書で動線と離隔距離を定め、関係者へ周知する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出典：あんぜんサイト 労働災害事例 No.401（類似 No.507／No.606）（厚生労働省 職場のあんぜんサイト 等）</a:t>
            </a:r>
          </a:p>
          <a:p>
            <a:pPr algn="l"/>
            <a:r>
              <a:rPr sz="1050" b="1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博展の現場では：</a:t>
            </a:r>
            <a:r>
              <a:rPr sz="105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天井トラス・リギング・電線下でのバケット操作は誘導者を付け、旋回前に頭上クリアランス確認。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6" name="Picture 5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現場チェックリスト　設営・搬入・撤去・会場高所作業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作業前に指差し確認。1項目でも×があれば作業を中止し是正する。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5303520" cy="457200"/>
          </a:xfrm>
          <a:prstGeom prst="rect">
            <a:avLst/>
          </a:prstGeom>
          <a:solidFill>
            <a:srgbClr val="EFEFEF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テールゲートリフター（荷役）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57400"/>
            <a:ext cx="5349240" cy="786384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　</a:t>
            </a:r>
            <a:r>
              <a:rPr sz="125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TGL操作の特別教育を修了しているか（2024年2月〜義務化）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5349240" cy="786384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　</a:t>
            </a:r>
            <a:r>
              <a:rPr sz="125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昇降板の端・縁に立たず、中央・前向きで作業しているか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03320"/>
            <a:ext cx="5349240" cy="786384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　</a:t>
            </a:r>
            <a:r>
              <a:rPr sz="125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昇降板の昇降中は人を乗せない／すき間に手足を入れていないか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526280"/>
            <a:ext cx="5349240" cy="786384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　</a:t>
            </a:r>
            <a:r>
              <a:rPr sz="125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カゴ車・台車はキャスターロックで固定し、段差・傾斜を解消したか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349240"/>
            <a:ext cx="5349240" cy="786384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　</a:t>
            </a:r>
            <a:r>
              <a:rPr sz="125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重量物は複数人で扱い、転倒側に立たない／積載は重心を低くしているか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417320"/>
            <a:ext cx="5303520" cy="457200"/>
          </a:xfrm>
          <a:prstGeom prst="rect">
            <a:avLst/>
          </a:prstGeom>
          <a:solidFill>
            <a:srgbClr val="EFEFEF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高所作業車（会場高所作業）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057400"/>
            <a:ext cx="5349240" cy="786384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　</a:t>
            </a:r>
            <a:r>
              <a:rPr sz="125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設置面は平坦・堅固か、アウトリガーを確実に張り出したか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880360"/>
            <a:ext cx="5349240" cy="786384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　</a:t>
            </a:r>
            <a:r>
              <a:rPr sz="125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フルハーネス型墜落制止用器具を堅固な設備に常時フック掛けしたか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3703320"/>
            <a:ext cx="5349240" cy="786384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　</a:t>
            </a:r>
            <a:r>
              <a:rPr sz="125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手すりから身を乗り出していないか／作業対象にバケットを寄せたか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4526280"/>
            <a:ext cx="5349240" cy="786384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　</a:t>
            </a:r>
            <a:r>
              <a:rPr sz="125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旋回・移動前に上方（トラス・電線）・側方の離隔を確認し誘導者を配置したか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5349240"/>
            <a:ext cx="5349240" cy="786384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　</a:t>
            </a:r>
            <a:r>
              <a:rPr sz="125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異常音・傾き等の予兆で直ちに作業中止し、作業計画書を周知しているか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7" name="Picture 16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出典・参考資料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71600"/>
            <a:ext cx="10972800" cy="47548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■ 統計・法令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・厚生労働省 職場のあんぜんサイト：労働災害統計確定値（令和7年確定値 2026年5月27日公表）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　https://anzeninfo.mhlw.go.jp/user/anzen/tok/anst00.html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・JNIOSH（労働安全衛生総合研究所）コラム No.118／研究報告 SRR-No.50／TGL安全リーフレット（6基本＆11場面別ルール）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・TGL特別教育 義務化：施行通達 基発0328第5号（労働安全衛生規則 第36条 改正）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・建荷協（建設荷役車両安全技術協会）死亡災害統計［資料提供：厚生労働省］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■ 労働災害事例（厚生労働省 職場のあんぜんサイト 事例No.）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・No.55（カゴ車転倒）／No.549・No.507（バケット墜落・はさまれ）／No.101377（車両転倒）／No.401・No.606（上方構造物はさまれ）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・JNIOSH 公表事例（TGL昇降板からの墜落）／あんぜんサイト ヒヤリ・ハット hiy_0448</a:t>
            </a:r>
          </a:p>
          <a:p>
            <a:pPr algn="l">
              <a:spcAft>
                <a:spcPts val="1000"/>
              </a:spcAft>
            </a:pPr>
            <a:r>
              <a:rPr sz="105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　労働災害事例検索 https://anzeninfo.mhlw.go.jp/anzen_pg/SAI_FND.aspx</a:t>
            </a:r>
          </a:p>
          <a:p>
            <a:pPr algn="l"/>
            <a:r>
              <a:rPr sz="105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※本資料の数値は令和7年確定値（2026年5月27日公表）時点。原典で確認できない項目は「—」または「未確認」と表記している。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5" name="Picture 4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