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テールゲートリフター・高所作業車</a:t>
            </a:r>
          </a:p>
          <a:p>
            <a:pPr algn="l"/>
            <a:r>
              <a:rPr sz="4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重大事故事例集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7033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設営・搬入・撤去・会場高所作業の現場で起きる重大災害と対策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709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株式会社 博展　御中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578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作成日：2026年6月13日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50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監修：労働安全コンサルタント（土木）　金田 義太（登録第4840号）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8" name="Picture 7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テールゲートリフター（TGL）災害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出典：JNIOSH／厚生労働省 職場のあんぜんサイト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44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558〜632</a:t>
            </a:r>
            <a:r>
              <a:rPr sz="2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件／年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TGL起因の労働災害（推計・休業4日以上）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2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42.3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作業者が昇降板上で転倒・転落して死傷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4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運輸業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中心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TGL災害が多い業種（設営の荷役も同じリスク）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【法改正】2024年（令和6年）2月1日 施行　</a:t>
            </a:r>
            <a:r>
              <a:rPr sz="16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テールゲートリフターで荷を積み卸す作業に「特別教育」が義務化</a:t>
            </a:r>
          </a:p>
          <a:p>
            <a:pPr algn="l">
              <a:spcAft>
                <a:spcPts val="500"/>
              </a:spcAft>
            </a:pPr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根拠：労働安全衛生法 第59条第3項／労働安全衛生規則 第36条の改正（第五号の四）。教育は学科4時間＋実技2時間（計6時間）。</a:t>
            </a:r>
          </a:p>
          <a:p>
            <a:pPr algn="l"/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設営搬入・撤去でTGLを用いて資材を積み卸す作業も対象。未修了者の従事は法令違反となる。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高所作業車 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出典：建荷協（建設荷役車両安全技術協会）／厚生労働省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6</a:t>
            </a:r>
            <a:r>
              <a:rPr sz="2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高所作業車を起因物とする死亡者数（令和2年）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墜落・転落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が最多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次いで はさまれ → 転倒 → 激突され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700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令和7年 労働災害死亡者（全産業・過去最少／2026.5.27公表）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【傾向】</a:t>
            </a:r>
            <a:r>
              <a:rPr sz="130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死亡6名の内訳は建設業5名・運輸交通業1名。事故の型は「墜落・転落」が最多。業種は建設業中心だが、製造業・ビルメンテ・樹木剪定・イベント設営等でも発生。</a:t>
            </a:r>
          </a:p>
          <a:p>
            <a:pPr algn="l">
              <a:spcAft>
                <a:spcPts val="500"/>
              </a:spcAft>
            </a:pPr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会場設営の高所作業（トラス・サイン・照明の取付け／撤去）も同じ災害リスクを負う。</a:t>
            </a:r>
          </a:p>
          <a:p>
            <a:pPr algn="l"/>
            <a:r>
              <a:rPr sz="11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※高所作業車「単独」の年間死傷者総数を示す公的確定統計は数表として未公表（本資料では「未確認」と表記）。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pic>
        <p:nvPicPr>
          <p:cNvPr id="3" name="Picture 2" descr="ge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3895344" y="2961551"/>
            <a:ext cx="905804" cy="1122318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616634" y="4177396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2762" y="2026285"/>
            <a:ext cx="147767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積荷（ドラム缶）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9216" y="5112661"/>
            <a:ext cx="100583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縁・柵なし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縁・柵のない昇降板の端で後退し、足を踏み外して地面へ墜落（人の墜落）。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公表分析事例／2011〜2012年）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運輸業（貨物自動車運送）／TGL昇降板上での荷の取卸し作業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後ろ向きで作業していた作業者が、縁・柵のない昇降板の後端を踏み外し、頭部から地面へ墜落して被災した。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後ろ向き姿勢で足元の視界・確認が不十分／昇降板に縁（柵）がなく踏み外しを防げない構造／端部での不安定な作業姿勢。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・昇降板上は前向き作業とし、端部・縁に立たない（中央寄りで作業）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・安全柵付きTGLの採用、端部の表示・滑り止めを徹底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・墜落制止用器具（フルハーネス）等で端部作業の墜落を防止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公表事例（報告 houkoku_2018_01／コラム No.118）（厚生労働省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設営搬入でブース資材を降ろす際、昇降板の端に立たず前向き・中央で扱う。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pic>
        <p:nvPicPr>
          <p:cNvPr id="3" name="Picture 2" descr="gen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H="1">
            <a:off x="3616634" y="3709763"/>
            <a:ext cx="836128" cy="748212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268248" y="4551502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44380" y="5299714"/>
            <a:ext cx="163494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昇降板のすき間に足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人が乗ったまま昇降板を動かし、足が荷台・地面との隙間に挟まれる。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想定される結果：骨折・重篤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分析／あんぜんサイト ヒヤリ・ハット hiy_0448）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一般貨物自動車運送業／TGL昇降板の昇降操作中の荷役作業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昇降板に乗って移動した際、足が荷台と昇降板の間に挟まれた。TGL災害の約2割が昇降動作中に発生している。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人が乗ったまま昇降板を動かす不適正使用／昇降板と荷台・地面の隙間に身体が入る位置取り／はさまれ危険の認識不足。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・昇降板の昇降中は人を乗せない・隙間付近に手足を置かない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・TGLは「荷専用」と認識し、人の昇降に使わない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・動作中の立ち位置ルールと相互の声掛けを徹底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コラム No.118 ／ あんぜんサイト hiy_0448（厚生労働省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撤去時、作業者は昇降板に乗って降りない。荷だけを載せ、操作者は地上から行う。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pic>
        <p:nvPicPr>
          <p:cNvPr id="3" name="Picture 2" descr="gen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4034698" y="3242130"/>
            <a:ext cx="975482" cy="701449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337925" y="4270922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7607" y="1745706"/>
            <a:ext cx="210677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カゴ車（ロールボックス）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62443" y="5206188"/>
            <a:ext cx="100583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段差・傾斜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段差・傾斜・固定不良でカゴ車が昇降板上で転倒し、作業者が下敷きに。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想定される結果：下敷き・重篤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No.55）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陸上貨物運送業／トラック荷台からロールボックスパレット（カゴ車）を取卸す作業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荷台と昇降板・渡り板の段差や傾斜でカゴ車がバランスを崩して転倒し、作業者が下敷き・激突した。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渡り板の急勾配・段差／カゴ車のキャスターロック等の固定不良／単独作業・危険認識不足。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・カゴ車のキャスターストッパーと昇降板上での固定を確実に行う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・段差・傾斜を解消し、平坦な状態で移動させる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・重量カゴ車は複数人で扱い、転倒側に立たない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No.55（厚生労働省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1t台車・カゴ台車での資材搬出入は、ロック確認・段差解消・転倒側に立たないを徹底。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pic>
        <p:nvPicPr>
          <p:cNvPr id="3" name="Picture 2" descr="photo_v9_clean_gen04_1.4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H="1">
            <a:off x="1944380" y="2961551"/>
            <a:ext cx="1254191" cy="1122318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895344" y="3429183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19862" y="1605416"/>
            <a:ext cx="19495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2762" y="5112661"/>
            <a:ext cx="163494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安全帯フック未掛け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手すりから身を乗り出し、安全帯（フック）未使用でバケットから墜落。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No.549）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建設業／高所作業車のバケットで柱間に部材を取付ける高所作業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バケット内で身を乗り出した不安定姿勢で作業中、墜落・はさまれにより被災した。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手すり越し・身を乗り出しの不安定姿勢／墜落制止用器具（安全帯）の確実な使用・フック掛けの不徹底／作業計画の不備。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・手すりから身を乗り出さず、作業対象にバケットを正対・接近させる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・墜落制止用器具をバケット内の堅固な設備に常時フック掛け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・作業計画書を作成・周知し、安全な作業半径を確保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No.549（安全帯論点 No.507）（厚生労働省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高所のトラス・サイン取付けはバケットを対象へ寄せ、フルハーネスを常時フック掛け。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pic>
        <p:nvPicPr>
          <p:cNvPr id="3" name="Picture 2" descr="gen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3198571" y="2961551"/>
            <a:ext cx="1045159" cy="982028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2710830" y="4457975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5671" y="5486767"/>
            <a:ext cx="226405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アウトリガー未設置／不整地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傾斜・不整地・アウトリガー未設置で車両ごと転倒、搭乗者が激突。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No.101377）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建設業／最大作業高さ約12mの高所作業車を用いた約10m高所での作業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作業中に高所作業車が後方へ転倒し、バケット搭乗者が地面に激突。転倒前に警告音（予兆）があったが作業を継続していた。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傾斜・軟弱地盤など設置場所の不適切／アウトリガー未設置／転倒のおそれがある状況での作業継続。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・平坦・堅固な地盤に設置し、アウトリガーを確実に張り出す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・異常音・傾き等の予兆があれば直ちに作業を中止する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・事前に作業計画を策定し、設置面の状態を点検する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No.101377（被災程度：死亡）（厚生労働省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屋外イベント・搬入路の不整地や養生段差では、設置面を点検しアウトリガーを必ず展開。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pic>
        <p:nvPicPr>
          <p:cNvPr id="3" name="Picture 2" descr="gen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V="1">
            <a:off x="3895344" y="2493918"/>
            <a:ext cx="0" cy="841739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522439" y="2166575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" y="1652179"/>
            <a:ext cx="132039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天井トラス・梁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2116" y="2774498"/>
            <a:ext cx="179222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頭上クリアランス不足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旋回・操作中にバケットと梁・天井トラス等の間に挟まれる。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想定される結果：はさまれ・重篤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No.401）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化学工場等／地上約6mのパイプラックを高所作業車のバケットで配管・塗装する作業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ブームを縮めながら旋回させた際、バケットと構造物（パイプラック）の間に挟まれた。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バケットと構造物との離隔確保不足／旋回・操作時の安全確認不足／合図・連携不足。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・旋回・移動前に上方・側方構造物との離隔を確認し、構造物際で旋回させない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・操作は資格者が行い、合図・誘導者を配置して連携する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・作業計画書で動線と離隔距離を定め、関係者へ周知する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No.401（類似 No.507／No.606）（厚生労働省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天井トラス・リギング・電線下でのバケット操作は誘導者を付け、旋回前に頭上クリアランス確認。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現場チェックリスト　設営・搬入・撤去・会場高所作業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作業前に指差し確認。1項目でも×があれば作業を中止し是正する。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テールゲートリフター（荷役）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0312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TGL操作の特別教育を修了しているか（2024年2月〜義務化）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07791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07791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昇降板の端・縁に立たず、中央・前向きで作業しているか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2463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712463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昇降板の昇降中は人を乗せない／すき間に手足を入れていないか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17136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517136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カゴ車・台車はキャスターロックで固定し、段差・傾斜を解消したか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21807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321807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重量物は複数人で扱い、転倒側に立たず低重心で積載しているか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高所作業車（会場高所作業）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03120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210312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設置面は平坦・堅固か、アウトリガーを確実に張り出したか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07791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2907791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フルハーネス型墜落制止用器具を堅固な設備に常時フック掛けしたか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12463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3712463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手すりから身を乗り出していないか／作業対象にバケットを寄せたか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517136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4517136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旋回・移動前に上方（トラス・電線）と側方の離隔を確認し誘導者を置いたか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321807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5321807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異常音・傾き等の予兆で直ちに作業中止し、作業計画書を周知しているか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27" name="Picture 26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出典・参考資料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統計・法令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・厚生労働省 職場のあんぜんサイト：労働災害統計確定値（令和7年確定値 2026年5月27日公表）</a:t>
            </a:r>
          </a:p>
          <a:p>
            <a:pPr algn="l">
              <a:spcAft>
                <a:spcPts val="300"/>
              </a:spcAft>
            </a:pPr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https://anzeninfo.mhlw.go.jp/user/anzen/tok/anst00.html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・JNIOSH（労働安全衛生総合研究所）コラム No.118／研究報告 SRR-No.50／TGL安全リーフレット（6基本＆11場面別ルール）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・TGL特別教育 義務化：施行通達 基発0328第5号（労働安全衛生規則 第36条 改正）</a:t>
            </a:r>
          </a:p>
          <a:p>
            <a:pPr algn="l">
              <a:spcAft>
                <a:spcPts val="10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・建荷協（建設荷役車両安全技術協会）死亡災害統計［資料提供：厚生労働省］</a:t>
            </a:r>
          </a:p>
          <a:p>
            <a:pPr algn="l">
              <a:spcAft>
                <a:spcPts val="400"/>
              </a:spcAft>
            </a:pPr>
            <a:r>
              <a:rPr sz="1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労働災害事例（厚生労働省 職場のあんぜんサイト 事例No.）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・No.55（カゴ車転倒）／No.549・No.507（バケット墜落・はさまれ）／No.101377（車両転倒）／No.401・No.606（上方構造物はさまれ）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 公表事例（TGL昇降板からの墜落）／あんぜんサイト ヒヤリ・ハット hiy_0448</a:t>
            </a:r>
          </a:p>
          <a:p>
            <a:pPr algn="l">
              <a:spcAft>
                <a:spcPts val="1000"/>
              </a:spcAft>
            </a:pPr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労働災害事例検索 https://anzeninfo.mhlw.go.jp/anzen_pg/SAI_FND.aspx</a:t>
            </a:r>
          </a:p>
          <a:p>
            <a:pPr algn="l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※本資料の数値は令和7年確定値（2026年5月27日公表）時点。原典で確認できない項目は「—」または「未確認」と表記している。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5" name="Picture 4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