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737360"/>
            <a:ext cx="10515600" cy="1097280"/>
          </a:xfrm>
          <a:prstGeom prst="rect">
            <a:avLst/>
          </a:prstGeom>
          <a:noFill/>
        </p:spPr>
        <p:txBody>
          <a:bodyPr wrap="square" anchor="t" lIns="25400" rIns="25400" tIns="25400" bIns="25400">
            <a:spAutoFit/>
          </a:bodyPr>
          <a:lstStyle/>
          <a:p>
            <a:pPr algn="l"/>
            <a:r>
              <a:rPr sz="3000" b="1">
                <a:solidFill>
                  <a:srgbClr val="000000"/>
                </a:solidFill>
                <a:latin typeface="游ゴシック"/>
                <a:ea typeface="游ゴシック"/>
                <a:cs typeface="游ゴシック"/>
              </a:rPr>
              <a:t>重大事故概要 事例集（体裁確認用サンプル）</a:t>
            </a:r>
          </a:p>
        </p:txBody>
      </p:sp>
      <p:sp>
        <p:nvSpPr>
          <p:cNvPr id="3" name="TextBox 2"/>
          <p:cNvSpPr txBox="1"/>
          <p:nvPr/>
        </p:nvSpPr>
        <p:spPr>
          <a:xfrm>
            <a:off x="822960" y="2743200"/>
            <a:ext cx="10515600" cy="457200"/>
          </a:xfrm>
          <a:prstGeom prst="rect">
            <a:avLst/>
          </a:prstGeom>
          <a:noFill/>
        </p:spPr>
        <p:txBody>
          <a:bodyPr wrap="square" anchor="t" lIns="25400" rIns="25400" tIns="25400" bIns="25400">
            <a:spAutoFit/>
          </a:bodyPr>
          <a:lstStyle/>
          <a:p>
            <a:pPr algn="l"/>
            <a:r>
              <a:rPr sz="1600" b="0">
                <a:solidFill>
                  <a:srgbClr val="000000"/>
                </a:solidFill>
                <a:latin typeface="游ゴシック"/>
                <a:ea typeface="游ゴシック"/>
                <a:cs typeface="游ゴシック"/>
              </a:rPr>
              <a:t>株式会社 博展 御中</a:t>
            </a:r>
          </a:p>
        </p:txBody>
      </p:sp>
      <p:sp>
        <p:nvSpPr>
          <p:cNvPr id="4" name="TextBox 3"/>
          <p:cNvSpPr txBox="1"/>
          <p:nvPr/>
        </p:nvSpPr>
        <p:spPr>
          <a:xfrm>
            <a:off x="822960" y="3383280"/>
            <a:ext cx="10515600" cy="1097280"/>
          </a:xfrm>
          <a:prstGeom prst="rect">
            <a:avLst/>
          </a:prstGeom>
          <a:noFill/>
        </p:spPr>
        <p:txBody>
          <a:bodyPr wrap="square" anchor="t" lIns="25400" rIns="25400" tIns="25400" bIns="25400">
            <a:spAutoFit/>
          </a:bodyPr>
          <a:lstStyle/>
          <a:p>
            <a:pPr algn="l"/>
            <a:r>
              <a:rPr sz="1250" b="0">
                <a:solidFill>
                  <a:srgbClr val="5E5E5E"/>
                </a:solidFill>
                <a:latin typeface="游ゴシック"/>
                <a:ea typeface="游ゴシック"/>
                <a:cs typeface="游ゴシック"/>
              </a:rPr>
              <a:t>※本資料は体裁確認用サンプルです（未QA・全17事例から抜粋3事例：#0001・#0002・#0071）。</a:t>
            </a:r>
          </a:p>
          <a:p>
            <a:pPr algn="l"/>
            <a:r>
              <a:rPr sz="1250" b="0">
                <a:solidFill>
                  <a:srgbClr val="5E5E5E"/>
                </a:solidFill>
                <a:latin typeface="游ゴシック"/>
                <a:ea typeface="游ゴシック"/>
                <a:cs typeface="游ゴシック"/>
              </a:rPr>
              <a:t>写真は選抜前の4案（A/B/C/D）を並列提示。発覚日時は出典に記載が無い場合「記載なし」と正直表記しています。</a:t>
            </a:r>
          </a:p>
        </p:txBody>
      </p:sp>
      <p:sp>
        <p:nvSpPr>
          <p:cNvPr id="5" name="TextBox 4"/>
          <p:cNvSpPr txBox="1"/>
          <p:nvPr/>
        </p:nvSpPr>
        <p:spPr>
          <a:xfrm>
            <a:off x="822960" y="4754880"/>
            <a:ext cx="10515600" cy="365760"/>
          </a:xfrm>
          <a:prstGeom prst="rect">
            <a:avLst/>
          </a:prstGeom>
          <a:noFill/>
        </p:spPr>
        <p:txBody>
          <a:bodyPr wrap="square" anchor="t" lIns="25400" rIns="25400" tIns="25400" bIns="25400">
            <a:spAutoFit/>
          </a:bodyPr>
          <a:lstStyle/>
          <a:p>
            <a:pPr algn="l"/>
            <a:r>
              <a:rPr sz="1200" b="0">
                <a:solidFill>
                  <a:srgbClr val="000000"/>
                </a:solidFill>
                <a:latin typeface="游ゴシック"/>
                <a:ea typeface="游ゴシック"/>
                <a:cs typeface="游ゴシック"/>
              </a:rPr>
              <a:t>作成日：2026年6月15日</a:t>
            </a:r>
          </a:p>
        </p:txBody>
      </p:sp>
      <p:sp>
        <p:nvSpPr>
          <p:cNvPr id="6" name="TextBox 5"/>
          <p:cNvSpPr txBox="1"/>
          <p:nvPr/>
        </p:nvSpPr>
        <p:spPr>
          <a:xfrm>
            <a:off x="822960" y="5212080"/>
            <a:ext cx="10515600" cy="365760"/>
          </a:xfrm>
          <a:prstGeom prst="rect">
            <a:avLst/>
          </a:prstGeom>
          <a:noFill/>
        </p:spPr>
        <p:txBody>
          <a:bodyPr wrap="square" anchor="t" lIns="25400" rIns="25400" tIns="25400" bIns="25400">
            <a:spAutoFit/>
          </a:bodyPr>
          <a:lstStyle/>
          <a:p>
            <a:pPr algn="l"/>
            <a:r>
              <a:rPr sz="1200" b="0">
                <a:solidFill>
                  <a:srgbClr val="5E5E5E"/>
                </a:solidFill>
                <a:latin typeface="游ゴシック"/>
                <a:ea typeface="游ゴシック"/>
                <a:cs typeface="游ゴシック"/>
              </a:rPr>
              <a:t>監修：金田 義太（労働安全コンサルタント 登録第4840号）</a:t>
            </a:r>
          </a:p>
        </p:txBody>
      </p:sp>
      <p:sp>
        <p:nvSpPr>
          <p:cNvPr id="7" name="TextBox 6"/>
          <p:cNvSpPr txBox="1"/>
          <p:nvPr/>
        </p:nvSpPr>
        <p:spPr>
          <a:xfrm>
            <a:off x="301752" y="6455664"/>
            <a:ext cx="5029200" cy="310896"/>
          </a:xfrm>
          <a:prstGeom prst="rect">
            <a:avLst/>
          </a:prstGeom>
          <a:noFill/>
        </p:spPr>
        <p:txBody>
          <a:bodyPr wrap="square" anchor="ctr" lIns="25400" rIns="25400" tIns="25400" bIns="25400">
            <a:spAutoFit/>
          </a:bodyPr>
          <a:lstStyle/>
          <a:p>
            <a:pPr algn="l"/>
            <a:r>
              <a:rPr sz="900" b="0">
                <a:solidFill>
                  <a:srgbClr val="5E5E5E"/>
                </a:solidFill>
                <a:latin typeface="游ゴシック"/>
                <a:ea typeface="游ゴシック"/>
                <a:cs typeface="游ゴシック"/>
              </a:rPr>
              <a:t>©Hakuten Corporation All Rights Reserved.</a:t>
            </a:r>
          </a:p>
        </p:txBody>
      </p:sp>
      <p:pic>
        <p:nvPicPr>
          <p:cNvPr id="8" name="Picture 7" descr="footer_strip_raw.png"/>
          <p:cNvPicPr>
            <a:picLocks noChangeAspect="1"/>
          </p:cNvPicPr>
          <p:nvPr/>
        </p:nvPicPr>
        <p:blipFill>
          <a:blip r:embed="rId2"/>
          <a:stretch>
            <a:fillRect/>
          </a:stretch>
        </p:blipFill>
        <p:spPr>
          <a:xfrm>
            <a:off x="8183879" y="6437376"/>
            <a:ext cx="2880360" cy="288035"/>
          </a:xfrm>
          <a:prstGeom prst="rect">
            <a:avLst/>
          </a:prstGeom>
        </p:spPr>
      </p:pic>
      <p:sp>
        <p:nvSpPr>
          <p:cNvPr id="9" name="TextBox 8"/>
          <p:cNvSpPr txBox="1"/>
          <p:nvPr/>
        </p:nvSpPr>
        <p:spPr>
          <a:xfrm>
            <a:off x="11475720" y="6419088"/>
            <a:ext cx="502920" cy="310896"/>
          </a:xfrm>
          <a:prstGeom prst="rect">
            <a:avLst/>
          </a:prstGeom>
          <a:noFill/>
        </p:spPr>
        <p:txBody>
          <a:bodyPr wrap="square" anchor="ctr" lIns="25400" rIns="25400" tIns="25400" bIns="25400">
            <a:spAutoFit/>
          </a:bodyPr>
          <a:lstStyle/>
          <a:p>
            <a:pPr algn="r"/>
            <a:r>
              <a:rPr sz="1000" b="0">
                <a:solidFill>
                  <a:srgbClr val="5E5E5E"/>
                </a:solidFill>
                <a:latin typeface="游ゴシック"/>
                <a:ea typeface="游ゴシック"/>
                <a:cs typeface="游ゴシック"/>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square" anchor="t" lIns="25400" rIns="25400" tIns="25400" bIns="25400">
            <a:spAutoFit/>
          </a:bodyPr>
          <a:lstStyle/>
          <a:p>
            <a:pPr algn="l"/>
            <a:r>
              <a:rPr sz="2700" b="1">
                <a:solidFill>
                  <a:srgbClr val="000000"/>
                </a:solidFill>
                <a:latin typeface="游ゴシック"/>
                <a:ea typeface="游ゴシック"/>
                <a:cs typeface="游ゴシック"/>
              </a:rPr>
              <a:t>重大事故概要 #0001 TGL 昇降板からの墜落・転落</a:t>
            </a:r>
          </a:p>
        </p:txBody>
      </p:sp>
      <p:sp>
        <p:nvSpPr>
          <p:cNvPr id="3" name="TextBox 2"/>
          <p:cNvSpPr txBox="1"/>
          <p:nvPr/>
        </p:nvSpPr>
        <p:spPr>
          <a:xfrm>
            <a:off x="457200" y="978408"/>
            <a:ext cx="11247120" cy="274320"/>
          </a:xfrm>
          <a:prstGeom prst="rect">
            <a:avLst/>
          </a:prstGeom>
          <a:noFill/>
        </p:spPr>
        <p:txBody>
          <a:bodyPr wrap="square" anchor="t" lIns="25400" rIns="25400" tIns="25400" bIns="25400">
            <a:spAutoFit/>
          </a:bodyPr>
          <a:lstStyle/>
          <a:p>
            <a:pPr algn="l"/>
            <a:r>
              <a:rPr sz="1100" b="0">
                <a:solidFill>
                  <a:srgbClr val="5E5E5E"/>
                </a:solidFill>
                <a:latin typeface="游ゴシック"/>
                <a:ea typeface="游ゴシック"/>
                <a:cs typeface="游ゴシック"/>
              </a:rPr>
              <a:t>監修：金田 義太（労働安全コンサルタント 登録第4840号）</a:t>
            </a:r>
          </a:p>
        </p:txBody>
      </p:sp>
      <p:sp>
        <p:nvSpPr>
          <p:cNvPr id="4" name="TextBox 3"/>
          <p:cNvSpPr txBox="1"/>
          <p:nvPr/>
        </p:nvSpPr>
        <p:spPr>
          <a:xfrm>
            <a:off x="2724912" y="1371600"/>
            <a:ext cx="3118104" cy="237744"/>
          </a:xfrm>
          <a:prstGeom prst="rect">
            <a:avLst/>
          </a:prstGeom>
          <a:solidFill>
            <a:srgbClr val="FFFFFF"/>
          </a:solidFill>
          <a:ln w="9525">
            <a:solidFill>
              <a:srgbClr val="999999"/>
            </a:solidFill>
          </a:ln>
        </p:spPr>
        <p:txBody>
          <a:bodyPr wrap="square" anchor="ctr" lIns="25400" rIns="25400" tIns="25400" bIns="25400">
            <a:spAutoFit/>
          </a:bodyPr>
          <a:lstStyle/>
          <a:p>
            <a:pPr algn="ctr"/>
            <a:r>
              <a:rPr sz="1000" b="1">
                <a:solidFill>
                  <a:srgbClr val="000000"/>
                </a:solidFill>
                <a:latin typeface="游ゴシック"/>
                <a:ea typeface="游ゴシック"/>
                <a:cs typeface="游ゴシック"/>
              </a:rPr>
              <a:t>A：実写化（OpenAI gpt-image-2）</a:t>
            </a:r>
          </a:p>
        </p:txBody>
      </p:sp>
      <p:pic>
        <p:nvPicPr>
          <p:cNvPr id="5" name="Picture 4" descr="0001_0.png"/>
          <p:cNvPicPr>
            <a:picLocks noChangeAspect="1"/>
          </p:cNvPicPr>
          <p:nvPr/>
        </p:nvPicPr>
        <p:blipFill>
          <a:blip r:embed="rId2"/>
          <a:stretch>
            <a:fillRect/>
          </a:stretch>
        </p:blipFill>
        <p:spPr>
          <a:xfrm>
            <a:off x="2724912" y="1645920"/>
            <a:ext cx="3118104" cy="2011680"/>
          </a:xfrm>
          <a:prstGeom prst="rect">
            <a:avLst/>
          </a:prstGeom>
          <a:ln w="9525">
            <a:solidFill>
              <a:srgbClr val="D9D9D9"/>
            </a:solidFill>
          </a:ln>
        </p:spPr>
      </p:pic>
      <p:sp>
        <p:nvSpPr>
          <p:cNvPr id="6" name="TextBox 5"/>
          <p:cNvSpPr txBox="1"/>
          <p:nvPr/>
        </p:nvSpPr>
        <p:spPr>
          <a:xfrm>
            <a:off x="6345936" y="1371600"/>
            <a:ext cx="3118104" cy="237744"/>
          </a:xfrm>
          <a:prstGeom prst="rect">
            <a:avLst/>
          </a:prstGeom>
          <a:solidFill>
            <a:srgbClr val="FFFFFF"/>
          </a:solidFill>
          <a:ln w="9525">
            <a:solidFill>
              <a:srgbClr val="999999"/>
            </a:solidFill>
          </a:ln>
        </p:spPr>
        <p:txBody>
          <a:bodyPr wrap="square" anchor="ctr" lIns="25400" rIns="25400" tIns="25400" bIns="25400">
            <a:spAutoFit/>
          </a:bodyPr>
          <a:lstStyle/>
          <a:p>
            <a:pPr algn="ctr"/>
            <a:r>
              <a:rPr sz="1000" b="1">
                <a:solidFill>
                  <a:srgbClr val="000000"/>
                </a:solidFill>
                <a:latin typeface="游ゴシック"/>
                <a:ea typeface="游ゴシック"/>
                <a:cs typeface="游ゴシック"/>
              </a:rPr>
              <a:t>B：実写化（Google gemini-3-pro-image-preview）</a:t>
            </a:r>
          </a:p>
        </p:txBody>
      </p:sp>
      <p:pic>
        <p:nvPicPr>
          <p:cNvPr id="7" name="Picture 6" descr="0001_1.png"/>
          <p:cNvPicPr>
            <a:picLocks noChangeAspect="1"/>
          </p:cNvPicPr>
          <p:nvPr/>
        </p:nvPicPr>
        <p:blipFill>
          <a:blip r:embed="rId3"/>
          <a:stretch>
            <a:fillRect/>
          </a:stretch>
        </p:blipFill>
        <p:spPr>
          <a:xfrm>
            <a:off x="6345936" y="1645920"/>
            <a:ext cx="3118104" cy="2011680"/>
          </a:xfrm>
          <a:prstGeom prst="rect">
            <a:avLst/>
          </a:prstGeom>
          <a:ln w="9525">
            <a:solidFill>
              <a:srgbClr val="D9D9D9"/>
            </a:solidFill>
          </a:ln>
        </p:spPr>
      </p:pic>
      <p:sp>
        <p:nvSpPr>
          <p:cNvPr id="8" name="TextBox 7"/>
          <p:cNvSpPr txBox="1"/>
          <p:nvPr/>
        </p:nvSpPr>
        <p:spPr>
          <a:xfrm>
            <a:off x="2724912" y="3913632"/>
            <a:ext cx="3118104" cy="237744"/>
          </a:xfrm>
          <a:prstGeom prst="rect">
            <a:avLst/>
          </a:prstGeom>
          <a:solidFill>
            <a:srgbClr val="FFFFFF"/>
          </a:solidFill>
          <a:ln w="9525">
            <a:solidFill>
              <a:srgbClr val="999999"/>
            </a:solidFill>
          </a:ln>
        </p:spPr>
        <p:txBody>
          <a:bodyPr wrap="square" anchor="ctr" lIns="25400" rIns="25400" tIns="25400" bIns="25400">
            <a:spAutoFit/>
          </a:bodyPr>
          <a:lstStyle/>
          <a:p>
            <a:pPr algn="ctr"/>
            <a:r>
              <a:rPr sz="1000" b="1">
                <a:solidFill>
                  <a:srgbClr val="000000"/>
                </a:solidFill>
                <a:latin typeface="游ゴシック"/>
                <a:ea typeface="游ゴシック"/>
                <a:cs typeface="游ゴシック"/>
              </a:rPr>
              <a:t>C：イベント設営（OpenAI gpt-image-2）</a:t>
            </a:r>
          </a:p>
        </p:txBody>
      </p:sp>
      <p:pic>
        <p:nvPicPr>
          <p:cNvPr id="9" name="Picture 8" descr="0001_2.png"/>
          <p:cNvPicPr>
            <a:picLocks noChangeAspect="1"/>
          </p:cNvPicPr>
          <p:nvPr/>
        </p:nvPicPr>
        <p:blipFill>
          <a:blip r:embed="rId4"/>
          <a:stretch>
            <a:fillRect/>
          </a:stretch>
        </p:blipFill>
        <p:spPr>
          <a:xfrm>
            <a:off x="2724912" y="4187952"/>
            <a:ext cx="3118104" cy="2011680"/>
          </a:xfrm>
          <a:prstGeom prst="rect">
            <a:avLst/>
          </a:prstGeom>
          <a:ln w="9525">
            <a:solidFill>
              <a:srgbClr val="D9D9D9"/>
            </a:solidFill>
          </a:ln>
        </p:spPr>
      </p:pic>
      <p:sp>
        <p:nvSpPr>
          <p:cNvPr id="10" name="TextBox 9"/>
          <p:cNvSpPr txBox="1"/>
          <p:nvPr/>
        </p:nvSpPr>
        <p:spPr>
          <a:xfrm>
            <a:off x="6345936" y="3913632"/>
            <a:ext cx="3118104" cy="237744"/>
          </a:xfrm>
          <a:prstGeom prst="rect">
            <a:avLst/>
          </a:prstGeom>
          <a:solidFill>
            <a:srgbClr val="FFFFFF"/>
          </a:solidFill>
          <a:ln w="9525">
            <a:solidFill>
              <a:srgbClr val="999999"/>
            </a:solidFill>
          </a:ln>
        </p:spPr>
        <p:txBody>
          <a:bodyPr wrap="square" anchor="ctr" lIns="25400" rIns="25400" tIns="25400" bIns="25400">
            <a:spAutoFit/>
          </a:bodyPr>
          <a:lstStyle/>
          <a:p>
            <a:pPr algn="ctr"/>
            <a:r>
              <a:rPr sz="1000" b="1">
                <a:solidFill>
                  <a:srgbClr val="000000"/>
                </a:solidFill>
                <a:latin typeface="游ゴシック"/>
                <a:ea typeface="游ゴシック"/>
                <a:cs typeface="游ゴシック"/>
              </a:rPr>
              <a:t>D：イベント設営（Google gemini-3-pro-image-preview）</a:t>
            </a:r>
          </a:p>
        </p:txBody>
      </p:sp>
      <p:pic>
        <p:nvPicPr>
          <p:cNvPr id="11" name="Picture 10" descr="0001_3.png"/>
          <p:cNvPicPr>
            <a:picLocks noChangeAspect="1"/>
          </p:cNvPicPr>
          <p:nvPr/>
        </p:nvPicPr>
        <p:blipFill>
          <a:blip r:embed="rId5"/>
          <a:stretch>
            <a:fillRect/>
          </a:stretch>
        </p:blipFill>
        <p:spPr>
          <a:xfrm>
            <a:off x="6345936" y="4187952"/>
            <a:ext cx="3118104" cy="2011680"/>
          </a:xfrm>
          <a:prstGeom prst="rect">
            <a:avLst/>
          </a:prstGeom>
          <a:ln w="9525">
            <a:solidFill>
              <a:srgbClr val="D9D9D9"/>
            </a:solidFill>
          </a:ln>
        </p:spPr>
      </p:pic>
      <p:sp>
        <p:nvSpPr>
          <p:cNvPr id="12" name="TextBox 11"/>
          <p:cNvSpPr txBox="1"/>
          <p:nvPr/>
        </p:nvSpPr>
        <p:spPr>
          <a:xfrm>
            <a:off x="457200" y="6272784"/>
            <a:ext cx="11247120" cy="237744"/>
          </a:xfrm>
          <a:prstGeom prst="rect">
            <a:avLst/>
          </a:prstGeom>
          <a:noFill/>
        </p:spPr>
        <p:txBody>
          <a:bodyPr wrap="square" anchor="t" lIns="25400" rIns="25400" tIns="25400" bIns="25400">
            <a:spAutoFit/>
          </a:bodyPr>
          <a:lstStyle/>
          <a:p>
            <a:pPr algn="l"/>
            <a:r>
              <a:rPr sz="900" b="0">
                <a:solidFill>
                  <a:srgbClr val="5E5E5E"/>
                </a:solidFill>
                <a:latin typeface="游ゴシック"/>
                <a:ea typeface="游ゴシック"/>
                <a:cs typeface="游ゴシック"/>
              </a:rPr>
              <a:t>※写真は選抜前の4案（A/B/C/D）を並列提示しています。最終版で1案に選抜します。</a:t>
            </a:r>
          </a:p>
        </p:txBody>
      </p:sp>
      <p:sp>
        <p:nvSpPr>
          <p:cNvPr id="13" name="TextBox 12"/>
          <p:cNvSpPr txBox="1"/>
          <p:nvPr/>
        </p:nvSpPr>
        <p:spPr>
          <a:xfrm>
            <a:off x="301752" y="6455664"/>
            <a:ext cx="5029200" cy="310896"/>
          </a:xfrm>
          <a:prstGeom prst="rect">
            <a:avLst/>
          </a:prstGeom>
          <a:noFill/>
        </p:spPr>
        <p:txBody>
          <a:bodyPr wrap="square" anchor="ctr" lIns="25400" rIns="25400" tIns="25400" bIns="25400">
            <a:spAutoFit/>
          </a:bodyPr>
          <a:lstStyle/>
          <a:p>
            <a:pPr algn="l"/>
            <a:r>
              <a:rPr sz="900" b="0">
                <a:solidFill>
                  <a:srgbClr val="5E5E5E"/>
                </a:solidFill>
                <a:latin typeface="游ゴシック"/>
                <a:ea typeface="游ゴシック"/>
                <a:cs typeface="游ゴシック"/>
              </a:rPr>
              <a:t>©Hakuten Corporation All Rights Reserved.</a:t>
            </a:r>
          </a:p>
        </p:txBody>
      </p:sp>
      <p:pic>
        <p:nvPicPr>
          <p:cNvPr id="14" name="Picture 13" descr="footer_strip_raw.png"/>
          <p:cNvPicPr>
            <a:picLocks noChangeAspect="1"/>
          </p:cNvPicPr>
          <p:nvPr/>
        </p:nvPicPr>
        <p:blipFill>
          <a:blip r:embed="rId6"/>
          <a:stretch>
            <a:fillRect/>
          </a:stretch>
        </p:blipFill>
        <p:spPr>
          <a:xfrm>
            <a:off x="8183879" y="6437376"/>
            <a:ext cx="2880360" cy="288035"/>
          </a:xfrm>
          <a:prstGeom prst="rect">
            <a:avLst/>
          </a:prstGeom>
        </p:spPr>
      </p:pic>
      <p:sp>
        <p:nvSpPr>
          <p:cNvPr id="15" name="TextBox 14"/>
          <p:cNvSpPr txBox="1"/>
          <p:nvPr/>
        </p:nvSpPr>
        <p:spPr>
          <a:xfrm>
            <a:off x="11475720" y="6419088"/>
            <a:ext cx="502920" cy="310896"/>
          </a:xfrm>
          <a:prstGeom prst="rect">
            <a:avLst/>
          </a:prstGeom>
          <a:noFill/>
        </p:spPr>
        <p:txBody>
          <a:bodyPr wrap="square" anchor="ctr" lIns="25400" rIns="25400" tIns="25400" bIns="25400">
            <a:spAutoFit/>
          </a:bodyPr>
          <a:lstStyle/>
          <a:p>
            <a:pPr algn="r"/>
            <a:r>
              <a:rPr sz="1000" b="0">
                <a:solidFill>
                  <a:srgbClr val="5E5E5E"/>
                </a:solidFill>
                <a:latin typeface="游ゴシック"/>
                <a:ea typeface="游ゴシック"/>
                <a:cs typeface="游ゴシック"/>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square" anchor="t" lIns="25400" rIns="25400" tIns="25400" bIns="25400">
            <a:spAutoFit/>
          </a:bodyPr>
          <a:lstStyle/>
          <a:p>
            <a:pPr algn="l"/>
            <a:r>
              <a:rPr sz="2700" b="1">
                <a:solidFill>
                  <a:srgbClr val="000000"/>
                </a:solidFill>
                <a:latin typeface="游ゴシック"/>
                <a:ea typeface="游ゴシック"/>
                <a:cs typeface="游ゴシック"/>
              </a:rPr>
              <a:t>重大事故概要 #0001 TGL 昇降板からの墜落・転落</a:t>
            </a:r>
          </a:p>
        </p:txBody>
      </p:sp>
      <p:sp>
        <p:nvSpPr>
          <p:cNvPr id="3" name="TextBox 2"/>
          <p:cNvSpPr txBox="1"/>
          <p:nvPr/>
        </p:nvSpPr>
        <p:spPr>
          <a:xfrm>
            <a:off x="457200" y="978408"/>
            <a:ext cx="11247120" cy="274320"/>
          </a:xfrm>
          <a:prstGeom prst="rect">
            <a:avLst/>
          </a:prstGeom>
          <a:noFill/>
        </p:spPr>
        <p:txBody>
          <a:bodyPr wrap="square" anchor="t" lIns="25400" rIns="25400" tIns="25400" bIns="25400">
            <a:spAutoFit/>
          </a:bodyPr>
          <a:lstStyle/>
          <a:p>
            <a:pPr algn="l"/>
            <a:r>
              <a:rPr sz="1100" b="0">
                <a:solidFill>
                  <a:srgbClr val="5E5E5E"/>
                </a:solidFill>
                <a:latin typeface="游ゴシック"/>
                <a:ea typeface="游ゴシック"/>
                <a:cs typeface="游ゴシック"/>
              </a:rPr>
              <a:t>監修：金田 義太（労働安全コンサルタント 登録第4840号）</a:t>
            </a:r>
          </a:p>
        </p:txBody>
      </p:sp>
      <p:graphicFrame>
        <p:nvGraphicFramePr>
          <p:cNvPr id="4" name="Table 3"/>
          <p:cNvGraphicFramePr>
            <a:graphicFrameLocks noGrp="1"/>
          </p:cNvGraphicFramePr>
          <p:nvPr/>
        </p:nvGraphicFramePr>
        <p:xfrm>
          <a:off x="548640" y="1325880"/>
          <a:ext cx="11091672" cy="5029200"/>
        </p:xfrm>
        <a:graphic>
          <a:graphicData uri="http://schemas.openxmlformats.org/drawingml/2006/table">
            <a:tbl>
              <a:tblPr>
                <a:tableStyleId>{5C22544A-7EE6-4342-B048-85BDC9FD1C3A}</a:tableStyleId>
              </a:tblPr>
              <a:tblGrid>
                <a:gridCol w="2057400"/>
                <a:gridCol w="9034272"/>
              </a:tblGrid>
              <a:tr h="502920">
                <a:tc>
                  <a:txBody>
                    <a:bodyPr/>
                    <a:lstStyle/>
                    <a:p>
                      <a:r>
                        <a:rPr sz="1300" b="1">
                          <a:solidFill>
                            <a:srgbClr val="000000"/>
                          </a:solidFill>
                          <a:latin typeface="游ゴシック"/>
                          <a:ea typeface="游ゴシック"/>
                          <a:cs typeface="游ゴシック"/>
                        </a:rPr>
                        <a:t>発覚日時</a:t>
                      </a:r>
                    </a:p>
                  </a:txBody>
                  <a:tcPr anchor="ctr" marL="101600">
                    <a:solidFill>
                      <a:srgbClr val="D9D9D9"/>
                    </a:solidFill>
                  </a:tcPr>
                </a:tc>
                <a:tc>
                  <a:txBody>
                    <a:bodyPr wrap="square"/>
                    <a:lstStyle/>
                    <a:p>
                      <a:r>
                        <a:rPr sz="1200">
                          <a:solidFill>
                            <a:srgbClr val="000000"/>
                          </a:solidFill>
                          <a:latin typeface="游ゴシック"/>
                          <a:ea typeface="游ゴシック"/>
                          <a:cs typeface="游ゴシック"/>
                        </a:rPr>
                        <a:t>記載なし（ヒヤリ・ハット事例集は発生年月日を非掲載）</a:t>
                      </a:r>
                    </a:p>
                  </a:txBody>
                  <a:tcPr anchor="ctr" marL="127000" marT="50800" marB="50800">
                    <a:solidFill>
                      <a:srgbClr val="FFFFFF"/>
                    </a:solidFill>
                  </a:tcPr>
                </a:tc>
              </a:tr>
              <a:tr h="502920">
                <a:tc>
                  <a:txBody>
                    <a:bodyPr/>
                    <a:lstStyle/>
                    <a:p>
                      <a:r>
                        <a:rPr sz="1300" b="1">
                          <a:solidFill>
                            <a:srgbClr val="000000"/>
                          </a:solidFill>
                          <a:latin typeface="游ゴシック"/>
                          <a:ea typeface="游ゴシック"/>
                          <a:cs typeface="游ゴシック"/>
                        </a:rPr>
                        <a:t>プロジェクト名</a:t>
                      </a:r>
                    </a:p>
                  </a:txBody>
                  <a:tcPr anchor="ctr" marL="101600">
                    <a:solidFill>
                      <a:srgbClr val="D9D9D9"/>
                    </a:solidFill>
                  </a:tcPr>
                </a:tc>
                <a:tc>
                  <a:txBody>
                    <a:bodyPr wrap="square"/>
                    <a:lstStyle/>
                    <a:p>
                      <a:r>
                        <a:rPr sz="1200">
                          <a:solidFill>
                            <a:srgbClr val="000000"/>
                          </a:solidFill>
                          <a:latin typeface="游ゴシック"/>
                          <a:ea typeface="游ゴシック"/>
                          <a:cs typeface="游ゴシック"/>
                        </a:rPr>
                        <a:t>博展 事故事例集／運送・荷役（テールゲートリフター）</a:t>
                      </a:r>
                    </a:p>
                  </a:txBody>
                  <a:tcPr anchor="ctr" marL="127000" marT="50800" marB="50800">
                    <a:solidFill>
                      <a:srgbClr val="FFFFFF"/>
                    </a:solidFill>
                  </a:tcPr>
                </a:tc>
              </a:tr>
              <a:tr h="1051560">
                <a:tc>
                  <a:txBody>
                    <a:bodyPr/>
                    <a:lstStyle/>
                    <a:p>
                      <a:r>
                        <a:rPr sz="1300" b="1">
                          <a:solidFill>
                            <a:srgbClr val="000000"/>
                          </a:solidFill>
                          <a:latin typeface="游ゴシック"/>
                          <a:ea typeface="游ゴシック"/>
                          <a:cs typeface="游ゴシック"/>
                        </a:rPr>
                        <a:t>発生事象</a:t>
                      </a:r>
                    </a:p>
                  </a:txBody>
                  <a:tcPr anchor="ctr" marL="101600">
                    <a:solidFill>
                      <a:srgbClr val="D9D9D9"/>
                    </a:solidFill>
                  </a:tcPr>
                </a:tc>
                <a:tc>
                  <a:txBody>
                    <a:bodyPr wrap="square"/>
                    <a:lstStyle/>
                    <a:p>
                      <a:r>
                        <a:rPr sz="1200">
                          <a:solidFill>
                            <a:srgbClr val="000000"/>
                          </a:solidFill>
                          <a:latin typeface="游ゴシック"/>
                          <a:ea typeface="游ゴシック"/>
                          <a:cs typeface="游ゴシック"/>
                        </a:rPr>
                        <a:t>一般貨物自動車運送業の作業者が、トラック荷台での作業を終えて降りようとテールゲートリフター（昇降機）に足を載せた際、荷台とリフトの段差に気づかずバランスを崩し、地面へ転落しそうになった（ヒヤリ・ハット）。</a:t>
                      </a:r>
                    </a:p>
                  </a:txBody>
                  <a:tcPr anchor="ctr" marL="127000" marT="50800" marB="50800">
                    <a:solidFill>
                      <a:srgbClr val="FFFFFF"/>
                    </a:solidFill>
                  </a:tcPr>
                </a:tc>
              </a:tr>
              <a:tr h="960120">
                <a:tc>
                  <a:txBody>
                    <a:bodyPr/>
                    <a:lstStyle/>
                    <a:p>
                      <a:r>
                        <a:rPr sz="1300" b="1">
                          <a:solidFill>
                            <a:srgbClr val="000000"/>
                          </a:solidFill>
                          <a:latin typeface="游ゴシック"/>
                          <a:ea typeface="游ゴシック"/>
                          <a:cs typeface="游ゴシック"/>
                        </a:rPr>
                        <a:t>原因概要</a:t>
                      </a:r>
                    </a:p>
                  </a:txBody>
                  <a:tcPr anchor="ctr" marL="101600">
                    <a:solidFill>
                      <a:srgbClr val="D9D9D9"/>
                    </a:solidFill>
                  </a:tcPr>
                </a:tc>
                <a:tc>
                  <a:txBody>
                    <a:bodyPr wrap="square"/>
                    <a:lstStyle/>
                    <a:p>
                      <a:r>
                        <a:rPr sz="1200">
                          <a:solidFill>
                            <a:srgbClr val="000000"/>
                          </a:solidFill>
                          <a:latin typeface="游ゴシック"/>
                          <a:ea typeface="游ゴシック"/>
                          <a:cs typeface="游ゴシック"/>
                        </a:rPr>
                        <a:t>テールゲートリフターが完全に上がり切っていない状態で乗り移ろうとし、荷台とリフトの段差を見落としたこと。昇降の最終確認不足。</a:t>
                      </a:r>
                    </a:p>
                  </a:txBody>
                  <a:tcPr anchor="ctr" marL="127000" marT="50800" marB="50800">
                    <a:solidFill>
                      <a:srgbClr val="FFFFFF"/>
                    </a:solidFill>
                  </a:tcPr>
                </a:tc>
              </a:tr>
              <a:tr h="777240">
                <a:tc>
                  <a:txBody>
                    <a:bodyPr/>
                    <a:lstStyle/>
                    <a:p>
                      <a:r>
                        <a:rPr sz="1300" b="1">
                          <a:solidFill>
                            <a:srgbClr val="000000"/>
                          </a:solidFill>
                          <a:latin typeface="游ゴシック"/>
                          <a:ea typeface="游ゴシック"/>
                          <a:cs typeface="游ゴシック"/>
                        </a:rPr>
                        <a:t>対応（想定）</a:t>
                      </a:r>
                    </a:p>
                  </a:txBody>
                  <a:tcPr anchor="ctr" marL="101600">
                    <a:solidFill>
                      <a:srgbClr val="D9D9D9"/>
                    </a:solidFill>
                  </a:tcPr>
                </a:tc>
                <a:tc>
                  <a:txBody>
                    <a:bodyPr wrap="square"/>
                    <a:lstStyle/>
                    <a:p>
                      <a:r>
                        <a:rPr sz="1200">
                          <a:solidFill>
                            <a:srgbClr val="000000"/>
                          </a:solidFill>
                          <a:latin typeface="游ゴシック"/>
                          <a:ea typeface="游ゴシック"/>
                          <a:cs typeface="游ゴシック"/>
                        </a:rPr>
                        <a:t>当該作業の一時中断、昇降動作・段差の点検、関係者への注意喚起、再発防止の周知（実際の事後対応は出典に記載なし＝想定・AI整理）。</a:t>
                      </a:r>
                    </a:p>
                  </a:txBody>
                  <a:tcPr anchor="ctr" marL="127000" marT="50800" marB="50800">
                    <a:solidFill>
                      <a:srgbClr val="FFFFFF"/>
                    </a:solidFill>
                  </a:tcPr>
                </a:tc>
              </a:tr>
              <a:tr h="1234440">
                <a:tc>
                  <a:txBody>
                    <a:bodyPr/>
                    <a:lstStyle/>
                    <a:p>
                      <a:r>
                        <a:rPr sz="1300" b="1">
                          <a:solidFill>
                            <a:srgbClr val="000000"/>
                          </a:solidFill>
                          <a:latin typeface="游ゴシック"/>
                          <a:ea typeface="游ゴシック"/>
                          <a:cs typeface="游ゴシック"/>
                        </a:rPr>
                        <a:t>対策概要</a:t>
                      </a:r>
                    </a:p>
                  </a:txBody>
                  <a:tcPr anchor="ctr" marL="101600">
                    <a:solidFill>
                      <a:srgbClr val="D9D9D9"/>
                    </a:solidFill>
                  </a:tcPr>
                </a:tc>
                <a:tc>
                  <a:txBody>
                    <a:bodyPr wrap="square"/>
                    <a:lstStyle/>
                    <a:p>
                      <a:pPr>
                        <a:spcAft>
                          <a:spcPts val="200"/>
                        </a:spcAft>
                      </a:pPr>
                      <a:r>
                        <a:rPr sz="1150">
                          <a:solidFill>
                            <a:srgbClr val="000000"/>
                          </a:solidFill>
                          <a:latin typeface="游ゴシック"/>
                          <a:ea typeface="游ゴシック"/>
                          <a:cs typeface="游ゴシック"/>
                        </a:rPr>
                        <a:t>・テールゲートリフターの昇降を最後まで確認し、荷台と同じ高さに上がり切ってから乗り移る。</a:t>
                      </a:r>
                    </a:p>
                    <a:p>
                      <a:pPr>
                        <a:spcAft>
                          <a:spcPts val="200"/>
                        </a:spcAft>
                      </a:pPr>
                      <a:r>
                        <a:rPr sz="1150">
                          <a:solidFill>
                            <a:srgbClr val="000000"/>
                          </a:solidFill>
                          <a:latin typeface="游ゴシック"/>
                          <a:ea typeface="游ゴシック"/>
                          <a:cs typeface="游ゴシック"/>
                        </a:rPr>
                        <a:t>・荷台から昇降する際は昇降設備を正しく使用する（段差をまたいで飛び降りない）。</a:t>
                      </a:r>
                    </a:p>
                    <a:p>
                      <a:pPr>
                        <a:spcAft>
                          <a:spcPts val="200"/>
                        </a:spcAft>
                      </a:pPr>
                      <a:r>
                        <a:rPr sz="1150">
                          <a:solidFill>
                            <a:srgbClr val="000000"/>
                          </a:solidFill>
                          <a:latin typeface="游ゴシック"/>
                          <a:ea typeface="游ゴシック"/>
                          <a:cs typeface="游ゴシック"/>
                        </a:rPr>
                        <a:t>・（補足・AI整理）昇降板上では手すり・周囲を確認し、無理な姿勢での乗り移りを避ける。</a:t>
                      </a:r>
                    </a:p>
                  </a:txBody>
                  <a:tcPr anchor="ctr" marL="127000" marT="50800" marB="50800">
                    <a:solidFill>
                      <a:srgbClr val="FFFFFF"/>
                    </a:solidFill>
                  </a:tcPr>
                </a:tc>
              </a:tr>
            </a:tbl>
          </a:graphicData>
        </a:graphic>
      </p:graphicFrame>
      <p:sp>
        <p:nvSpPr>
          <p:cNvPr id="5" name="TextBox 4"/>
          <p:cNvSpPr txBox="1"/>
          <p:nvPr/>
        </p:nvSpPr>
        <p:spPr>
          <a:xfrm>
            <a:off x="548640" y="6409944"/>
            <a:ext cx="11091672" cy="457200"/>
          </a:xfrm>
          <a:prstGeom prst="rect">
            <a:avLst/>
          </a:prstGeom>
          <a:noFill/>
        </p:spPr>
        <p:txBody>
          <a:bodyPr wrap="square" anchor="t" lIns="25400" rIns="25400" tIns="25400" bIns="25400">
            <a:spAutoFit/>
          </a:bodyPr>
          <a:lstStyle/>
          <a:p>
            <a:pPr algn="l"/>
            <a:r>
              <a:rPr sz="950" b="0">
                <a:solidFill>
                  <a:srgbClr val="5E5E5E"/>
                </a:solidFill>
                <a:latin typeface="游ゴシック"/>
                <a:ea typeface="游ゴシック"/>
                <a:cs typeface="游ゴシック"/>
              </a:rPr>
              <a:t>出典：https://anzeninfo.mhlw.go.jp/hiyari/hiy_0448.html （厚労省 職場のあんぜんサイト ヒヤリ・ハット事例集／HTTP200・本文一致確認済）</a:t>
            </a:r>
          </a:p>
        </p:txBody>
      </p:sp>
      <p:sp>
        <p:nvSpPr>
          <p:cNvPr id="6" name="TextBox 5"/>
          <p:cNvSpPr txBox="1"/>
          <p:nvPr/>
        </p:nvSpPr>
        <p:spPr>
          <a:xfrm>
            <a:off x="301752" y="6455664"/>
            <a:ext cx="5029200" cy="310896"/>
          </a:xfrm>
          <a:prstGeom prst="rect">
            <a:avLst/>
          </a:prstGeom>
          <a:noFill/>
        </p:spPr>
        <p:txBody>
          <a:bodyPr wrap="square" anchor="ctr" lIns="25400" rIns="25400" tIns="25400" bIns="25400">
            <a:spAutoFit/>
          </a:bodyPr>
          <a:lstStyle/>
          <a:p>
            <a:pPr algn="l"/>
            <a:r>
              <a:rPr sz="900" b="0">
                <a:solidFill>
                  <a:srgbClr val="5E5E5E"/>
                </a:solidFill>
                <a:latin typeface="游ゴシック"/>
                <a:ea typeface="游ゴシック"/>
                <a:cs typeface="游ゴシック"/>
              </a:rPr>
              <a:t>©Hakuten Corporation All Rights Reserved.</a:t>
            </a:r>
          </a:p>
        </p:txBody>
      </p:sp>
      <p:pic>
        <p:nvPicPr>
          <p:cNvPr id="7" name="Picture 6" descr="footer_strip_raw.png"/>
          <p:cNvPicPr>
            <a:picLocks noChangeAspect="1"/>
          </p:cNvPicPr>
          <p:nvPr/>
        </p:nvPicPr>
        <p:blipFill>
          <a:blip r:embed="rId2"/>
          <a:stretch>
            <a:fillRect/>
          </a:stretch>
        </p:blipFill>
        <p:spPr>
          <a:xfrm>
            <a:off x="8183879" y="6437376"/>
            <a:ext cx="2880360" cy="288035"/>
          </a:xfrm>
          <a:prstGeom prst="rect">
            <a:avLst/>
          </a:prstGeom>
        </p:spPr>
      </p:pic>
      <p:sp>
        <p:nvSpPr>
          <p:cNvPr id="8" name="TextBox 7"/>
          <p:cNvSpPr txBox="1"/>
          <p:nvPr/>
        </p:nvSpPr>
        <p:spPr>
          <a:xfrm>
            <a:off x="11475720" y="6419088"/>
            <a:ext cx="502920" cy="310896"/>
          </a:xfrm>
          <a:prstGeom prst="rect">
            <a:avLst/>
          </a:prstGeom>
          <a:noFill/>
        </p:spPr>
        <p:txBody>
          <a:bodyPr wrap="square" anchor="ctr" lIns="25400" rIns="25400" tIns="25400" bIns="25400">
            <a:spAutoFit/>
          </a:bodyPr>
          <a:lstStyle/>
          <a:p>
            <a:pPr algn="r"/>
            <a:r>
              <a:rPr sz="1000" b="0">
                <a:solidFill>
                  <a:srgbClr val="5E5E5E"/>
                </a:solidFill>
                <a:latin typeface="游ゴシック"/>
                <a:ea typeface="游ゴシック"/>
                <a:cs typeface="游ゴシック"/>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square" anchor="t" lIns="25400" rIns="25400" tIns="25400" bIns="25400">
            <a:spAutoFit/>
          </a:bodyPr>
          <a:lstStyle/>
          <a:p>
            <a:pPr algn="l"/>
            <a:r>
              <a:rPr sz="2700" b="1">
                <a:solidFill>
                  <a:srgbClr val="000000"/>
                </a:solidFill>
                <a:latin typeface="游ゴシック"/>
                <a:ea typeface="游ゴシック"/>
                <a:cs typeface="游ゴシック"/>
              </a:rPr>
              <a:t>重大事故概要 #0002 TGL 昇降板と車体の間に足を挟まれ</a:t>
            </a:r>
          </a:p>
        </p:txBody>
      </p:sp>
      <p:sp>
        <p:nvSpPr>
          <p:cNvPr id="3" name="TextBox 2"/>
          <p:cNvSpPr txBox="1"/>
          <p:nvPr/>
        </p:nvSpPr>
        <p:spPr>
          <a:xfrm>
            <a:off x="457200" y="978408"/>
            <a:ext cx="11247120" cy="274320"/>
          </a:xfrm>
          <a:prstGeom prst="rect">
            <a:avLst/>
          </a:prstGeom>
          <a:noFill/>
        </p:spPr>
        <p:txBody>
          <a:bodyPr wrap="square" anchor="t" lIns="25400" rIns="25400" tIns="25400" bIns="25400">
            <a:spAutoFit/>
          </a:bodyPr>
          <a:lstStyle/>
          <a:p>
            <a:pPr algn="l"/>
            <a:r>
              <a:rPr sz="1100" b="0">
                <a:solidFill>
                  <a:srgbClr val="5E5E5E"/>
                </a:solidFill>
                <a:latin typeface="游ゴシック"/>
                <a:ea typeface="游ゴシック"/>
                <a:cs typeface="游ゴシック"/>
              </a:rPr>
              <a:t>監修：金田 義太（労働安全コンサルタント 登録第4840号）</a:t>
            </a:r>
          </a:p>
        </p:txBody>
      </p:sp>
      <p:sp>
        <p:nvSpPr>
          <p:cNvPr id="4" name="TextBox 3"/>
          <p:cNvSpPr txBox="1"/>
          <p:nvPr/>
        </p:nvSpPr>
        <p:spPr>
          <a:xfrm>
            <a:off x="2724912" y="1371600"/>
            <a:ext cx="3118104" cy="237744"/>
          </a:xfrm>
          <a:prstGeom prst="rect">
            <a:avLst/>
          </a:prstGeom>
          <a:solidFill>
            <a:srgbClr val="FFFFFF"/>
          </a:solidFill>
          <a:ln w="9525">
            <a:solidFill>
              <a:srgbClr val="999999"/>
            </a:solidFill>
          </a:ln>
        </p:spPr>
        <p:txBody>
          <a:bodyPr wrap="square" anchor="ctr" lIns="25400" rIns="25400" tIns="25400" bIns="25400">
            <a:spAutoFit/>
          </a:bodyPr>
          <a:lstStyle/>
          <a:p>
            <a:pPr algn="ctr"/>
            <a:r>
              <a:rPr sz="1000" b="1">
                <a:solidFill>
                  <a:srgbClr val="000000"/>
                </a:solidFill>
                <a:latin typeface="游ゴシック"/>
                <a:ea typeface="游ゴシック"/>
                <a:cs typeface="游ゴシック"/>
              </a:rPr>
              <a:t>A：実写化（OpenAI gpt-image-2）</a:t>
            </a:r>
          </a:p>
        </p:txBody>
      </p:sp>
      <p:pic>
        <p:nvPicPr>
          <p:cNvPr id="5" name="Picture 4" descr="0002_0.png"/>
          <p:cNvPicPr>
            <a:picLocks noChangeAspect="1"/>
          </p:cNvPicPr>
          <p:nvPr/>
        </p:nvPicPr>
        <p:blipFill>
          <a:blip r:embed="rId2"/>
          <a:stretch>
            <a:fillRect/>
          </a:stretch>
        </p:blipFill>
        <p:spPr>
          <a:xfrm>
            <a:off x="2724912" y="1645920"/>
            <a:ext cx="3118104" cy="2011680"/>
          </a:xfrm>
          <a:prstGeom prst="rect">
            <a:avLst/>
          </a:prstGeom>
          <a:ln w="9525">
            <a:solidFill>
              <a:srgbClr val="D9D9D9"/>
            </a:solidFill>
          </a:ln>
        </p:spPr>
      </p:pic>
      <p:sp>
        <p:nvSpPr>
          <p:cNvPr id="6" name="TextBox 5"/>
          <p:cNvSpPr txBox="1"/>
          <p:nvPr/>
        </p:nvSpPr>
        <p:spPr>
          <a:xfrm>
            <a:off x="6345936" y="1371600"/>
            <a:ext cx="3118104" cy="237744"/>
          </a:xfrm>
          <a:prstGeom prst="rect">
            <a:avLst/>
          </a:prstGeom>
          <a:solidFill>
            <a:srgbClr val="FFFFFF"/>
          </a:solidFill>
          <a:ln w="9525">
            <a:solidFill>
              <a:srgbClr val="999999"/>
            </a:solidFill>
          </a:ln>
        </p:spPr>
        <p:txBody>
          <a:bodyPr wrap="square" anchor="ctr" lIns="25400" rIns="25400" tIns="25400" bIns="25400">
            <a:spAutoFit/>
          </a:bodyPr>
          <a:lstStyle/>
          <a:p>
            <a:pPr algn="ctr"/>
            <a:r>
              <a:rPr sz="1000" b="1">
                <a:solidFill>
                  <a:srgbClr val="000000"/>
                </a:solidFill>
                <a:latin typeface="游ゴシック"/>
                <a:ea typeface="游ゴシック"/>
                <a:cs typeface="游ゴシック"/>
              </a:rPr>
              <a:t>B：実写化（Google gemini-3-pro-image-preview）</a:t>
            </a:r>
          </a:p>
        </p:txBody>
      </p:sp>
      <p:pic>
        <p:nvPicPr>
          <p:cNvPr id="7" name="Picture 6" descr="0002_1.png"/>
          <p:cNvPicPr>
            <a:picLocks noChangeAspect="1"/>
          </p:cNvPicPr>
          <p:nvPr/>
        </p:nvPicPr>
        <p:blipFill>
          <a:blip r:embed="rId3"/>
          <a:stretch>
            <a:fillRect/>
          </a:stretch>
        </p:blipFill>
        <p:spPr>
          <a:xfrm>
            <a:off x="6345936" y="1645920"/>
            <a:ext cx="3118104" cy="2011680"/>
          </a:xfrm>
          <a:prstGeom prst="rect">
            <a:avLst/>
          </a:prstGeom>
          <a:ln w="9525">
            <a:solidFill>
              <a:srgbClr val="D9D9D9"/>
            </a:solidFill>
          </a:ln>
        </p:spPr>
      </p:pic>
      <p:sp>
        <p:nvSpPr>
          <p:cNvPr id="8" name="TextBox 7"/>
          <p:cNvSpPr txBox="1"/>
          <p:nvPr/>
        </p:nvSpPr>
        <p:spPr>
          <a:xfrm>
            <a:off x="2724912" y="3913632"/>
            <a:ext cx="3118104" cy="237744"/>
          </a:xfrm>
          <a:prstGeom prst="rect">
            <a:avLst/>
          </a:prstGeom>
          <a:solidFill>
            <a:srgbClr val="FFFFFF"/>
          </a:solidFill>
          <a:ln w="9525">
            <a:solidFill>
              <a:srgbClr val="999999"/>
            </a:solidFill>
          </a:ln>
        </p:spPr>
        <p:txBody>
          <a:bodyPr wrap="square" anchor="ctr" lIns="25400" rIns="25400" tIns="25400" bIns="25400">
            <a:spAutoFit/>
          </a:bodyPr>
          <a:lstStyle/>
          <a:p>
            <a:pPr algn="ctr"/>
            <a:r>
              <a:rPr sz="1000" b="1">
                <a:solidFill>
                  <a:srgbClr val="000000"/>
                </a:solidFill>
                <a:latin typeface="游ゴシック"/>
                <a:ea typeface="游ゴシック"/>
                <a:cs typeface="游ゴシック"/>
              </a:rPr>
              <a:t>C：イベント設営（OpenAI gpt-image-2）</a:t>
            </a:r>
          </a:p>
        </p:txBody>
      </p:sp>
      <p:pic>
        <p:nvPicPr>
          <p:cNvPr id="9" name="Picture 8" descr="0002_2.png"/>
          <p:cNvPicPr>
            <a:picLocks noChangeAspect="1"/>
          </p:cNvPicPr>
          <p:nvPr/>
        </p:nvPicPr>
        <p:blipFill>
          <a:blip r:embed="rId4"/>
          <a:stretch>
            <a:fillRect/>
          </a:stretch>
        </p:blipFill>
        <p:spPr>
          <a:xfrm>
            <a:off x="2724912" y="4187952"/>
            <a:ext cx="3118104" cy="2011680"/>
          </a:xfrm>
          <a:prstGeom prst="rect">
            <a:avLst/>
          </a:prstGeom>
          <a:ln w="9525">
            <a:solidFill>
              <a:srgbClr val="D9D9D9"/>
            </a:solidFill>
          </a:ln>
        </p:spPr>
      </p:pic>
      <p:sp>
        <p:nvSpPr>
          <p:cNvPr id="10" name="TextBox 9"/>
          <p:cNvSpPr txBox="1"/>
          <p:nvPr/>
        </p:nvSpPr>
        <p:spPr>
          <a:xfrm>
            <a:off x="6345936" y="3913632"/>
            <a:ext cx="3118104" cy="237744"/>
          </a:xfrm>
          <a:prstGeom prst="rect">
            <a:avLst/>
          </a:prstGeom>
          <a:solidFill>
            <a:srgbClr val="FFFFFF"/>
          </a:solidFill>
          <a:ln w="9525">
            <a:solidFill>
              <a:srgbClr val="999999"/>
            </a:solidFill>
          </a:ln>
        </p:spPr>
        <p:txBody>
          <a:bodyPr wrap="square" anchor="ctr" lIns="25400" rIns="25400" tIns="25400" bIns="25400">
            <a:spAutoFit/>
          </a:bodyPr>
          <a:lstStyle/>
          <a:p>
            <a:pPr algn="ctr"/>
            <a:r>
              <a:rPr sz="1000" b="1">
                <a:solidFill>
                  <a:srgbClr val="000000"/>
                </a:solidFill>
                <a:latin typeface="游ゴシック"/>
                <a:ea typeface="游ゴシック"/>
                <a:cs typeface="游ゴシック"/>
              </a:rPr>
              <a:t>D：イベント設営（Google gemini-3-pro-image-preview）</a:t>
            </a:r>
          </a:p>
        </p:txBody>
      </p:sp>
      <p:pic>
        <p:nvPicPr>
          <p:cNvPr id="11" name="Picture 10" descr="0002_3.png"/>
          <p:cNvPicPr>
            <a:picLocks noChangeAspect="1"/>
          </p:cNvPicPr>
          <p:nvPr/>
        </p:nvPicPr>
        <p:blipFill>
          <a:blip r:embed="rId5"/>
          <a:stretch>
            <a:fillRect/>
          </a:stretch>
        </p:blipFill>
        <p:spPr>
          <a:xfrm>
            <a:off x="6345936" y="4187952"/>
            <a:ext cx="3118104" cy="2011680"/>
          </a:xfrm>
          <a:prstGeom prst="rect">
            <a:avLst/>
          </a:prstGeom>
          <a:ln w="9525">
            <a:solidFill>
              <a:srgbClr val="D9D9D9"/>
            </a:solidFill>
          </a:ln>
        </p:spPr>
      </p:pic>
      <p:sp>
        <p:nvSpPr>
          <p:cNvPr id="12" name="TextBox 11"/>
          <p:cNvSpPr txBox="1"/>
          <p:nvPr/>
        </p:nvSpPr>
        <p:spPr>
          <a:xfrm>
            <a:off x="457200" y="6272784"/>
            <a:ext cx="11247120" cy="237744"/>
          </a:xfrm>
          <a:prstGeom prst="rect">
            <a:avLst/>
          </a:prstGeom>
          <a:noFill/>
        </p:spPr>
        <p:txBody>
          <a:bodyPr wrap="square" anchor="t" lIns="25400" rIns="25400" tIns="25400" bIns="25400">
            <a:spAutoFit/>
          </a:bodyPr>
          <a:lstStyle/>
          <a:p>
            <a:pPr algn="l"/>
            <a:r>
              <a:rPr sz="900" b="0">
                <a:solidFill>
                  <a:srgbClr val="5E5E5E"/>
                </a:solidFill>
                <a:latin typeface="游ゴシック"/>
                <a:ea typeface="游ゴシック"/>
                <a:cs typeface="游ゴシック"/>
              </a:rPr>
              <a:t>※写真は選抜前の4案（A/B/C/D）を並列提示しています。最終版で1案に選抜します。</a:t>
            </a:r>
          </a:p>
        </p:txBody>
      </p:sp>
      <p:sp>
        <p:nvSpPr>
          <p:cNvPr id="13" name="TextBox 12"/>
          <p:cNvSpPr txBox="1"/>
          <p:nvPr/>
        </p:nvSpPr>
        <p:spPr>
          <a:xfrm>
            <a:off x="301752" y="6455664"/>
            <a:ext cx="5029200" cy="310896"/>
          </a:xfrm>
          <a:prstGeom prst="rect">
            <a:avLst/>
          </a:prstGeom>
          <a:noFill/>
        </p:spPr>
        <p:txBody>
          <a:bodyPr wrap="square" anchor="ctr" lIns="25400" rIns="25400" tIns="25400" bIns="25400">
            <a:spAutoFit/>
          </a:bodyPr>
          <a:lstStyle/>
          <a:p>
            <a:pPr algn="l"/>
            <a:r>
              <a:rPr sz="900" b="0">
                <a:solidFill>
                  <a:srgbClr val="5E5E5E"/>
                </a:solidFill>
                <a:latin typeface="游ゴシック"/>
                <a:ea typeface="游ゴシック"/>
                <a:cs typeface="游ゴシック"/>
              </a:rPr>
              <a:t>©Hakuten Corporation All Rights Reserved.</a:t>
            </a:r>
          </a:p>
        </p:txBody>
      </p:sp>
      <p:pic>
        <p:nvPicPr>
          <p:cNvPr id="14" name="Picture 13" descr="footer_strip_raw.png"/>
          <p:cNvPicPr>
            <a:picLocks noChangeAspect="1"/>
          </p:cNvPicPr>
          <p:nvPr/>
        </p:nvPicPr>
        <p:blipFill>
          <a:blip r:embed="rId6"/>
          <a:stretch>
            <a:fillRect/>
          </a:stretch>
        </p:blipFill>
        <p:spPr>
          <a:xfrm>
            <a:off x="8183879" y="6437376"/>
            <a:ext cx="2880360" cy="288035"/>
          </a:xfrm>
          <a:prstGeom prst="rect">
            <a:avLst/>
          </a:prstGeom>
        </p:spPr>
      </p:pic>
      <p:sp>
        <p:nvSpPr>
          <p:cNvPr id="15" name="TextBox 14"/>
          <p:cNvSpPr txBox="1"/>
          <p:nvPr/>
        </p:nvSpPr>
        <p:spPr>
          <a:xfrm>
            <a:off x="11475720" y="6419088"/>
            <a:ext cx="502920" cy="310896"/>
          </a:xfrm>
          <a:prstGeom prst="rect">
            <a:avLst/>
          </a:prstGeom>
          <a:noFill/>
        </p:spPr>
        <p:txBody>
          <a:bodyPr wrap="square" anchor="ctr" lIns="25400" rIns="25400" tIns="25400" bIns="25400">
            <a:spAutoFit/>
          </a:bodyPr>
          <a:lstStyle/>
          <a:p>
            <a:pPr algn="r"/>
            <a:r>
              <a:rPr sz="1000" b="0">
                <a:solidFill>
                  <a:srgbClr val="5E5E5E"/>
                </a:solidFill>
                <a:latin typeface="游ゴシック"/>
                <a:ea typeface="游ゴシック"/>
                <a:cs typeface="游ゴシック"/>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square" anchor="t" lIns="25400" rIns="25400" tIns="25400" bIns="25400">
            <a:spAutoFit/>
          </a:bodyPr>
          <a:lstStyle/>
          <a:p>
            <a:pPr algn="l"/>
            <a:r>
              <a:rPr sz="2700" b="1">
                <a:solidFill>
                  <a:srgbClr val="000000"/>
                </a:solidFill>
                <a:latin typeface="游ゴシック"/>
                <a:ea typeface="游ゴシック"/>
                <a:cs typeface="游ゴシック"/>
              </a:rPr>
              <a:t>重大事故概要 #0002 TGL 昇降板と車体の間に足を挟まれ</a:t>
            </a:r>
          </a:p>
        </p:txBody>
      </p:sp>
      <p:sp>
        <p:nvSpPr>
          <p:cNvPr id="3" name="TextBox 2"/>
          <p:cNvSpPr txBox="1"/>
          <p:nvPr/>
        </p:nvSpPr>
        <p:spPr>
          <a:xfrm>
            <a:off x="457200" y="978408"/>
            <a:ext cx="11247120" cy="274320"/>
          </a:xfrm>
          <a:prstGeom prst="rect">
            <a:avLst/>
          </a:prstGeom>
          <a:noFill/>
        </p:spPr>
        <p:txBody>
          <a:bodyPr wrap="square" anchor="t" lIns="25400" rIns="25400" tIns="25400" bIns="25400">
            <a:spAutoFit/>
          </a:bodyPr>
          <a:lstStyle/>
          <a:p>
            <a:pPr algn="l"/>
            <a:r>
              <a:rPr sz="1100" b="0">
                <a:solidFill>
                  <a:srgbClr val="5E5E5E"/>
                </a:solidFill>
                <a:latin typeface="游ゴシック"/>
                <a:ea typeface="游ゴシック"/>
                <a:cs typeface="游ゴシック"/>
              </a:rPr>
              <a:t>監修：金田 義太（労働安全コンサルタント 登録第4840号）</a:t>
            </a:r>
          </a:p>
        </p:txBody>
      </p:sp>
      <p:graphicFrame>
        <p:nvGraphicFramePr>
          <p:cNvPr id="4" name="Table 3"/>
          <p:cNvGraphicFramePr>
            <a:graphicFrameLocks noGrp="1"/>
          </p:cNvGraphicFramePr>
          <p:nvPr/>
        </p:nvGraphicFramePr>
        <p:xfrm>
          <a:off x="548640" y="1325880"/>
          <a:ext cx="11091672" cy="5029200"/>
        </p:xfrm>
        <a:graphic>
          <a:graphicData uri="http://schemas.openxmlformats.org/drawingml/2006/table">
            <a:tbl>
              <a:tblPr>
                <a:tableStyleId>{5C22544A-7EE6-4342-B048-85BDC9FD1C3A}</a:tableStyleId>
              </a:tblPr>
              <a:tblGrid>
                <a:gridCol w="2057400"/>
                <a:gridCol w="9034272"/>
              </a:tblGrid>
              <a:tr h="502920">
                <a:tc>
                  <a:txBody>
                    <a:bodyPr/>
                    <a:lstStyle/>
                    <a:p>
                      <a:r>
                        <a:rPr sz="1300" b="1">
                          <a:solidFill>
                            <a:srgbClr val="000000"/>
                          </a:solidFill>
                          <a:latin typeface="游ゴシック"/>
                          <a:ea typeface="游ゴシック"/>
                          <a:cs typeface="游ゴシック"/>
                        </a:rPr>
                        <a:t>発覚日時</a:t>
                      </a:r>
                    </a:p>
                  </a:txBody>
                  <a:tcPr anchor="ctr" marL="101600">
                    <a:solidFill>
                      <a:srgbClr val="D9D9D9"/>
                    </a:solidFill>
                  </a:tcPr>
                </a:tc>
                <a:tc>
                  <a:txBody>
                    <a:bodyPr wrap="square"/>
                    <a:lstStyle/>
                    <a:p>
                      <a:r>
                        <a:rPr sz="1200">
                          <a:solidFill>
                            <a:srgbClr val="000000"/>
                          </a:solidFill>
                          <a:latin typeface="游ゴシック"/>
                          <a:ea typeface="游ゴシック"/>
                          <a:cs typeface="游ゴシック"/>
                        </a:rPr>
                        <a:t>記載なし（ヒヤリ・ハット事例集は発生年月日を非掲載）</a:t>
                      </a:r>
                    </a:p>
                  </a:txBody>
                  <a:tcPr anchor="ctr" marL="127000" marT="50800" marB="50800">
                    <a:solidFill>
                      <a:srgbClr val="FFFFFF"/>
                    </a:solidFill>
                  </a:tcPr>
                </a:tc>
              </a:tr>
              <a:tr h="502920">
                <a:tc>
                  <a:txBody>
                    <a:bodyPr/>
                    <a:lstStyle/>
                    <a:p>
                      <a:r>
                        <a:rPr sz="1300" b="1">
                          <a:solidFill>
                            <a:srgbClr val="000000"/>
                          </a:solidFill>
                          <a:latin typeface="游ゴシック"/>
                          <a:ea typeface="游ゴシック"/>
                          <a:cs typeface="游ゴシック"/>
                        </a:rPr>
                        <a:t>プロジェクト名</a:t>
                      </a:r>
                    </a:p>
                  </a:txBody>
                  <a:tcPr anchor="ctr" marL="101600">
                    <a:solidFill>
                      <a:srgbClr val="D9D9D9"/>
                    </a:solidFill>
                  </a:tcPr>
                </a:tc>
                <a:tc>
                  <a:txBody>
                    <a:bodyPr wrap="square"/>
                    <a:lstStyle/>
                    <a:p>
                      <a:r>
                        <a:rPr sz="1200">
                          <a:solidFill>
                            <a:srgbClr val="000000"/>
                          </a:solidFill>
                          <a:latin typeface="游ゴシック"/>
                          <a:ea typeface="游ゴシック"/>
                          <a:cs typeface="游ゴシック"/>
                        </a:rPr>
                        <a:t>博展 事故事例集／運送・荷役（テールゲートリフター）</a:t>
                      </a:r>
                    </a:p>
                  </a:txBody>
                  <a:tcPr anchor="ctr" marL="127000" marT="50800" marB="50800">
                    <a:solidFill>
                      <a:srgbClr val="FFFFFF"/>
                    </a:solidFill>
                  </a:tcPr>
                </a:tc>
              </a:tr>
              <a:tr h="1051560">
                <a:tc>
                  <a:txBody>
                    <a:bodyPr/>
                    <a:lstStyle/>
                    <a:p>
                      <a:r>
                        <a:rPr sz="1300" b="1">
                          <a:solidFill>
                            <a:srgbClr val="000000"/>
                          </a:solidFill>
                          <a:latin typeface="游ゴシック"/>
                          <a:ea typeface="游ゴシック"/>
                          <a:cs typeface="游ゴシック"/>
                        </a:rPr>
                        <a:t>発生事象</a:t>
                      </a:r>
                    </a:p>
                  </a:txBody>
                  <a:tcPr anchor="ctr" marL="101600">
                    <a:solidFill>
                      <a:srgbClr val="D9D9D9"/>
                    </a:solidFill>
                  </a:tcPr>
                </a:tc>
                <a:tc>
                  <a:txBody>
                    <a:bodyPr wrap="square"/>
                    <a:lstStyle/>
                    <a:p>
                      <a:r>
                        <a:rPr sz="1200">
                          <a:solidFill>
                            <a:srgbClr val="000000"/>
                          </a:solidFill>
                          <a:latin typeface="游ゴシック"/>
                          <a:ea typeface="游ゴシック"/>
                          <a:cs typeface="游ゴシック"/>
                        </a:rPr>
                        <a:t>陸上貨物運送業の作業者が、商品の積み降ろし作業中、テールゲートリフターの昇降板に乗ったまま操作を行い、ゲート（昇降板）を上昇させていた際に、足の指先を車両とゲートの間に挟みそうになった（ヒヤリ・ハット）。</a:t>
                      </a:r>
                    </a:p>
                  </a:txBody>
                  <a:tcPr anchor="ctr" marL="127000" marT="50800" marB="50800">
                    <a:solidFill>
                      <a:srgbClr val="FFFFFF"/>
                    </a:solidFill>
                  </a:tcPr>
                </a:tc>
              </a:tr>
              <a:tr h="960120">
                <a:tc>
                  <a:txBody>
                    <a:bodyPr/>
                    <a:lstStyle/>
                    <a:p>
                      <a:r>
                        <a:rPr sz="1300" b="1">
                          <a:solidFill>
                            <a:srgbClr val="000000"/>
                          </a:solidFill>
                          <a:latin typeface="游ゴシック"/>
                          <a:ea typeface="游ゴシック"/>
                          <a:cs typeface="游ゴシック"/>
                        </a:rPr>
                        <a:t>原因概要</a:t>
                      </a:r>
                    </a:p>
                  </a:txBody>
                  <a:tcPr anchor="ctr" marL="101600">
                    <a:solidFill>
                      <a:srgbClr val="D9D9D9"/>
                    </a:solidFill>
                  </a:tcPr>
                </a:tc>
                <a:tc>
                  <a:txBody>
                    <a:bodyPr wrap="square"/>
                    <a:lstStyle/>
                    <a:p>
                      <a:r>
                        <a:rPr sz="1200">
                          <a:solidFill>
                            <a:srgbClr val="000000"/>
                          </a:solidFill>
                          <a:latin typeface="游ゴシック"/>
                          <a:ea typeface="游ゴシック"/>
                          <a:cs typeface="游ゴシック"/>
                        </a:rPr>
                        <a:t>作業者が昇降板（リフト）に乗った状態のままテールゲートリフターを操作していたこと。可動部（車両とゲートの間）に身体（足先）が入り込む位置で操作したこと。</a:t>
                      </a:r>
                    </a:p>
                  </a:txBody>
                  <a:tcPr anchor="ctr" marL="127000" marT="50800" marB="50800">
                    <a:solidFill>
                      <a:srgbClr val="FFFFFF"/>
                    </a:solidFill>
                  </a:tcPr>
                </a:tc>
              </a:tr>
              <a:tr h="777240">
                <a:tc>
                  <a:txBody>
                    <a:bodyPr/>
                    <a:lstStyle/>
                    <a:p>
                      <a:r>
                        <a:rPr sz="1300" b="1">
                          <a:solidFill>
                            <a:srgbClr val="000000"/>
                          </a:solidFill>
                          <a:latin typeface="游ゴシック"/>
                          <a:ea typeface="游ゴシック"/>
                          <a:cs typeface="游ゴシック"/>
                        </a:rPr>
                        <a:t>対応（想定）</a:t>
                      </a:r>
                    </a:p>
                  </a:txBody>
                  <a:tcPr anchor="ctr" marL="101600">
                    <a:solidFill>
                      <a:srgbClr val="D9D9D9"/>
                    </a:solidFill>
                  </a:tcPr>
                </a:tc>
                <a:tc>
                  <a:txBody>
                    <a:bodyPr wrap="square"/>
                    <a:lstStyle/>
                    <a:p>
                      <a:r>
                        <a:rPr sz="1200">
                          <a:solidFill>
                            <a:srgbClr val="000000"/>
                          </a:solidFill>
                          <a:latin typeface="游ゴシック"/>
                          <a:ea typeface="游ゴシック"/>
                          <a:cs typeface="游ゴシック"/>
                        </a:rPr>
                        <a:t>当該作業の一時中断、操作手順・操作位置の点検、注意喚起、再発防止の周知（実際の事後対応は出典に記載なし＝想定・AI整理）。</a:t>
                      </a:r>
                    </a:p>
                  </a:txBody>
                  <a:tcPr anchor="ctr" marL="127000" marT="50800" marB="50800">
                    <a:solidFill>
                      <a:srgbClr val="FFFFFF"/>
                    </a:solidFill>
                  </a:tcPr>
                </a:tc>
              </a:tr>
              <a:tr h="1234440">
                <a:tc>
                  <a:txBody>
                    <a:bodyPr/>
                    <a:lstStyle/>
                    <a:p>
                      <a:r>
                        <a:rPr sz="1300" b="1">
                          <a:solidFill>
                            <a:srgbClr val="000000"/>
                          </a:solidFill>
                          <a:latin typeface="游ゴシック"/>
                          <a:ea typeface="游ゴシック"/>
                          <a:cs typeface="游ゴシック"/>
                        </a:rPr>
                        <a:t>対策概要</a:t>
                      </a:r>
                    </a:p>
                  </a:txBody>
                  <a:tcPr anchor="ctr" marL="101600">
                    <a:solidFill>
                      <a:srgbClr val="D9D9D9"/>
                    </a:solidFill>
                  </a:tcPr>
                </a:tc>
                <a:tc>
                  <a:txBody>
                    <a:bodyPr wrap="square"/>
                    <a:lstStyle/>
                    <a:p>
                      <a:pPr>
                        <a:spcAft>
                          <a:spcPts val="200"/>
                        </a:spcAft>
                      </a:pPr>
                      <a:r>
                        <a:rPr sz="1150">
                          <a:solidFill>
                            <a:srgbClr val="000000"/>
                          </a:solidFill>
                          <a:latin typeface="游ゴシック"/>
                          <a:ea typeface="游ゴシック"/>
                          <a:cs typeface="游ゴシック"/>
                        </a:rPr>
                        <a:t>・作業者が昇降板に乗った状態で荷を昇降させない（可動部から離れた位置で操作する）。</a:t>
                      </a:r>
                    </a:p>
                    <a:p>
                      <a:pPr>
                        <a:spcAft>
                          <a:spcPts val="200"/>
                        </a:spcAft>
                      </a:pPr>
                      <a:r>
                        <a:rPr sz="1150">
                          <a:solidFill>
                            <a:srgbClr val="000000"/>
                          </a:solidFill>
                          <a:latin typeface="游ゴシック"/>
                          <a:ea typeface="游ゴシック"/>
                          <a:cs typeface="游ゴシック"/>
                        </a:rPr>
                        <a:t>・荷の昇降時には昇降板のストッパーを使用する。</a:t>
                      </a:r>
                    </a:p>
                    <a:p>
                      <a:pPr>
                        <a:spcAft>
                          <a:spcPts val="200"/>
                        </a:spcAft>
                      </a:pPr>
                      <a:r>
                        <a:rPr sz="1150">
                          <a:solidFill>
                            <a:srgbClr val="000000"/>
                          </a:solidFill>
                          <a:latin typeface="游ゴシック"/>
                          <a:ea typeface="游ゴシック"/>
                          <a:cs typeface="游ゴシック"/>
                        </a:rPr>
                        <a:t>・床面積が小さく高さのある積み荷は、ロープ・ラッシングベルト等で昇降板に固定する。</a:t>
                      </a:r>
                    </a:p>
                  </a:txBody>
                  <a:tcPr anchor="ctr" marL="127000" marT="50800" marB="50800">
                    <a:solidFill>
                      <a:srgbClr val="FFFFFF"/>
                    </a:solidFill>
                  </a:tcPr>
                </a:tc>
              </a:tr>
            </a:tbl>
          </a:graphicData>
        </a:graphic>
      </p:graphicFrame>
      <p:sp>
        <p:nvSpPr>
          <p:cNvPr id="5" name="TextBox 4"/>
          <p:cNvSpPr txBox="1"/>
          <p:nvPr/>
        </p:nvSpPr>
        <p:spPr>
          <a:xfrm>
            <a:off x="548640" y="6409944"/>
            <a:ext cx="11091672" cy="457200"/>
          </a:xfrm>
          <a:prstGeom prst="rect">
            <a:avLst/>
          </a:prstGeom>
          <a:noFill/>
        </p:spPr>
        <p:txBody>
          <a:bodyPr wrap="square" anchor="t" lIns="25400" rIns="25400" tIns="25400" bIns="25400">
            <a:spAutoFit/>
          </a:bodyPr>
          <a:lstStyle/>
          <a:p>
            <a:pPr algn="l"/>
            <a:r>
              <a:rPr sz="950" b="0">
                <a:solidFill>
                  <a:srgbClr val="5E5E5E"/>
                </a:solidFill>
                <a:latin typeface="游ゴシック"/>
                <a:ea typeface="游ゴシック"/>
                <a:cs typeface="游ゴシック"/>
              </a:rPr>
              <a:t>出典：https://anzeninfo.mhlw.go.jp/hiyari/hiy_0373.html （厚労省 職場のあんぜんサイト ヒヤリ・ハット事例集／HTTP200・本文一致確認済）</a:t>
            </a:r>
          </a:p>
        </p:txBody>
      </p:sp>
      <p:sp>
        <p:nvSpPr>
          <p:cNvPr id="6" name="TextBox 5"/>
          <p:cNvSpPr txBox="1"/>
          <p:nvPr/>
        </p:nvSpPr>
        <p:spPr>
          <a:xfrm>
            <a:off x="301752" y="6455664"/>
            <a:ext cx="5029200" cy="310896"/>
          </a:xfrm>
          <a:prstGeom prst="rect">
            <a:avLst/>
          </a:prstGeom>
          <a:noFill/>
        </p:spPr>
        <p:txBody>
          <a:bodyPr wrap="square" anchor="ctr" lIns="25400" rIns="25400" tIns="25400" bIns="25400">
            <a:spAutoFit/>
          </a:bodyPr>
          <a:lstStyle/>
          <a:p>
            <a:pPr algn="l"/>
            <a:r>
              <a:rPr sz="900" b="0">
                <a:solidFill>
                  <a:srgbClr val="5E5E5E"/>
                </a:solidFill>
                <a:latin typeface="游ゴシック"/>
                <a:ea typeface="游ゴシック"/>
                <a:cs typeface="游ゴシック"/>
              </a:rPr>
              <a:t>©Hakuten Corporation All Rights Reserved.</a:t>
            </a:r>
          </a:p>
        </p:txBody>
      </p:sp>
      <p:pic>
        <p:nvPicPr>
          <p:cNvPr id="7" name="Picture 6" descr="footer_strip_raw.png"/>
          <p:cNvPicPr>
            <a:picLocks noChangeAspect="1"/>
          </p:cNvPicPr>
          <p:nvPr/>
        </p:nvPicPr>
        <p:blipFill>
          <a:blip r:embed="rId2"/>
          <a:stretch>
            <a:fillRect/>
          </a:stretch>
        </p:blipFill>
        <p:spPr>
          <a:xfrm>
            <a:off x="8183879" y="6437376"/>
            <a:ext cx="2880360" cy="288035"/>
          </a:xfrm>
          <a:prstGeom prst="rect">
            <a:avLst/>
          </a:prstGeom>
        </p:spPr>
      </p:pic>
      <p:sp>
        <p:nvSpPr>
          <p:cNvPr id="8" name="TextBox 7"/>
          <p:cNvSpPr txBox="1"/>
          <p:nvPr/>
        </p:nvSpPr>
        <p:spPr>
          <a:xfrm>
            <a:off x="11475720" y="6419088"/>
            <a:ext cx="502920" cy="310896"/>
          </a:xfrm>
          <a:prstGeom prst="rect">
            <a:avLst/>
          </a:prstGeom>
          <a:noFill/>
        </p:spPr>
        <p:txBody>
          <a:bodyPr wrap="square" anchor="ctr" lIns="25400" rIns="25400" tIns="25400" bIns="25400">
            <a:spAutoFit/>
          </a:bodyPr>
          <a:lstStyle/>
          <a:p>
            <a:pPr algn="r"/>
            <a:r>
              <a:rPr sz="1000" b="0">
                <a:solidFill>
                  <a:srgbClr val="5E5E5E"/>
                </a:solidFill>
                <a:latin typeface="游ゴシック"/>
                <a:ea typeface="游ゴシック"/>
                <a:cs typeface="游ゴシック"/>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square" anchor="t" lIns="25400" rIns="25400" tIns="25400" bIns="25400">
            <a:spAutoFit/>
          </a:bodyPr>
          <a:lstStyle/>
          <a:p>
            <a:pPr algn="l"/>
            <a:r>
              <a:rPr sz="2700" b="1">
                <a:solidFill>
                  <a:srgbClr val="000000"/>
                </a:solidFill>
                <a:latin typeface="游ゴシック"/>
                <a:ea typeface="游ゴシック"/>
                <a:cs typeface="游ゴシック"/>
              </a:rPr>
              <a:t>重大事故概要 #0071 高所作業車 下がり壁と手すりの間に挟まれ</a:t>
            </a:r>
          </a:p>
        </p:txBody>
      </p:sp>
      <p:sp>
        <p:nvSpPr>
          <p:cNvPr id="3" name="TextBox 2"/>
          <p:cNvSpPr txBox="1"/>
          <p:nvPr/>
        </p:nvSpPr>
        <p:spPr>
          <a:xfrm>
            <a:off x="457200" y="978408"/>
            <a:ext cx="11247120" cy="274320"/>
          </a:xfrm>
          <a:prstGeom prst="rect">
            <a:avLst/>
          </a:prstGeom>
          <a:noFill/>
        </p:spPr>
        <p:txBody>
          <a:bodyPr wrap="square" anchor="t" lIns="25400" rIns="25400" tIns="25400" bIns="25400">
            <a:spAutoFit/>
          </a:bodyPr>
          <a:lstStyle/>
          <a:p>
            <a:pPr algn="l"/>
            <a:r>
              <a:rPr sz="1100" b="0">
                <a:solidFill>
                  <a:srgbClr val="5E5E5E"/>
                </a:solidFill>
                <a:latin typeface="游ゴシック"/>
                <a:ea typeface="游ゴシック"/>
                <a:cs typeface="游ゴシック"/>
              </a:rPr>
              <a:t>監修：金田 義太（労働安全コンサルタント 登録第4840号）</a:t>
            </a:r>
          </a:p>
        </p:txBody>
      </p:sp>
      <p:sp>
        <p:nvSpPr>
          <p:cNvPr id="4" name="TextBox 3"/>
          <p:cNvSpPr txBox="1"/>
          <p:nvPr/>
        </p:nvSpPr>
        <p:spPr>
          <a:xfrm>
            <a:off x="2724912" y="1371600"/>
            <a:ext cx="3118104" cy="237744"/>
          </a:xfrm>
          <a:prstGeom prst="rect">
            <a:avLst/>
          </a:prstGeom>
          <a:solidFill>
            <a:srgbClr val="FFFFFF"/>
          </a:solidFill>
          <a:ln w="9525">
            <a:solidFill>
              <a:srgbClr val="999999"/>
            </a:solidFill>
          </a:ln>
        </p:spPr>
        <p:txBody>
          <a:bodyPr wrap="square" anchor="ctr" lIns="25400" rIns="25400" tIns="25400" bIns="25400">
            <a:spAutoFit/>
          </a:bodyPr>
          <a:lstStyle/>
          <a:p>
            <a:pPr algn="ctr"/>
            <a:r>
              <a:rPr sz="1000" b="1">
                <a:solidFill>
                  <a:srgbClr val="000000"/>
                </a:solidFill>
                <a:latin typeface="游ゴシック"/>
                <a:ea typeface="游ゴシック"/>
                <a:cs typeface="游ゴシック"/>
              </a:rPr>
              <a:t>A：実写化（OpenAI gpt-image-2）</a:t>
            </a:r>
          </a:p>
        </p:txBody>
      </p:sp>
      <p:pic>
        <p:nvPicPr>
          <p:cNvPr id="5" name="Picture 4" descr="0071_0.png"/>
          <p:cNvPicPr>
            <a:picLocks noChangeAspect="1"/>
          </p:cNvPicPr>
          <p:nvPr/>
        </p:nvPicPr>
        <p:blipFill>
          <a:blip r:embed="rId2"/>
          <a:stretch>
            <a:fillRect/>
          </a:stretch>
        </p:blipFill>
        <p:spPr>
          <a:xfrm>
            <a:off x="2724912" y="1645920"/>
            <a:ext cx="3118104" cy="2011680"/>
          </a:xfrm>
          <a:prstGeom prst="rect">
            <a:avLst/>
          </a:prstGeom>
          <a:ln w="9525">
            <a:solidFill>
              <a:srgbClr val="D9D9D9"/>
            </a:solidFill>
          </a:ln>
        </p:spPr>
      </p:pic>
      <p:sp>
        <p:nvSpPr>
          <p:cNvPr id="6" name="TextBox 5"/>
          <p:cNvSpPr txBox="1"/>
          <p:nvPr/>
        </p:nvSpPr>
        <p:spPr>
          <a:xfrm>
            <a:off x="6345936" y="1371600"/>
            <a:ext cx="3118104" cy="237744"/>
          </a:xfrm>
          <a:prstGeom prst="rect">
            <a:avLst/>
          </a:prstGeom>
          <a:solidFill>
            <a:srgbClr val="FFFFFF"/>
          </a:solidFill>
          <a:ln w="9525">
            <a:solidFill>
              <a:srgbClr val="999999"/>
            </a:solidFill>
          </a:ln>
        </p:spPr>
        <p:txBody>
          <a:bodyPr wrap="square" anchor="ctr" lIns="25400" rIns="25400" tIns="25400" bIns="25400">
            <a:spAutoFit/>
          </a:bodyPr>
          <a:lstStyle/>
          <a:p>
            <a:pPr algn="ctr"/>
            <a:r>
              <a:rPr sz="1000" b="1">
                <a:solidFill>
                  <a:srgbClr val="000000"/>
                </a:solidFill>
                <a:latin typeface="游ゴシック"/>
                <a:ea typeface="游ゴシック"/>
                <a:cs typeface="游ゴシック"/>
              </a:rPr>
              <a:t>B：実写化（Google gemini-3-pro-image-preview）</a:t>
            </a:r>
          </a:p>
        </p:txBody>
      </p:sp>
      <p:pic>
        <p:nvPicPr>
          <p:cNvPr id="7" name="Picture 6" descr="0071_1.png"/>
          <p:cNvPicPr>
            <a:picLocks noChangeAspect="1"/>
          </p:cNvPicPr>
          <p:nvPr/>
        </p:nvPicPr>
        <p:blipFill>
          <a:blip r:embed="rId3"/>
          <a:stretch>
            <a:fillRect/>
          </a:stretch>
        </p:blipFill>
        <p:spPr>
          <a:xfrm>
            <a:off x="6345936" y="1645920"/>
            <a:ext cx="3118104" cy="2011680"/>
          </a:xfrm>
          <a:prstGeom prst="rect">
            <a:avLst/>
          </a:prstGeom>
          <a:ln w="9525">
            <a:solidFill>
              <a:srgbClr val="D9D9D9"/>
            </a:solidFill>
          </a:ln>
        </p:spPr>
      </p:pic>
      <p:sp>
        <p:nvSpPr>
          <p:cNvPr id="8" name="TextBox 7"/>
          <p:cNvSpPr txBox="1"/>
          <p:nvPr/>
        </p:nvSpPr>
        <p:spPr>
          <a:xfrm>
            <a:off x="2724912" y="3913632"/>
            <a:ext cx="3118104" cy="237744"/>
          </a:xfrm>
          <a:prstGeom prst="rect">
            <a:avLst/>
          </a:prstGeom>
          <a:solidFill>
            <a:srgbClr val="FFFFFF"/>
          </a:solidFill>
          <a:ln w="9525">
            <a:solidFill>
              <a:srgbClr val="999999"/>
            </a:solidFill>
          </a:ln>
        </p:spPr>
        <p:txBody>
          <a:bodyPr wrap="square" anchor="ctr" lIns="25400" rIns="25400" tIns="25400" bIns="25400">
            <a:spAutoFit/>
          </a:bodyPr>
          <a:lstStyle/>
          <a:p>
            <a:pPr algn="ctr"/>
            <a:r>
              <a:rPr sz="1000" b="1">
                <a:solidFill>
                  <a:srgbClr val="000000"/>
                </a:solidFill>
                <a:latin typeface="游ゴシック"/>
                <a:ea typeface="游ゴシック"/>
                <a:cs typeface="游ゴシック"/>
              </a:rPr>
              <a:t>C：イベント設営（OpenAI gpt-image-2）</a:t>
            </a:r>
          </a:p>
        </p:txBody>
      </p:sp>
      <p:pic>
        <p:nvPicPr>
          <p:cNvPr id="9" name="Picture 8" descr="0071_2.png"/>
          <p:cNvPicPr>
            <a:picLocks noChangeAspect="1"/>
          </p:cNvPicPr>
          <p:nvPr/>
        </p:nvPicPr>
        <p:blipFill>
          <a:blip r:embed="rId4"/>
          <a:stretch>
            <a:fillRect/>
          </a:stretch>
        </p:blipFill>
        <p:spPr>
          <a:xfrm>
            <a:off x="2724912" y="4187952"/>
            <a:ext cx="3118104" cy="2011680"/>
          </a:xfrm>
          <a:prstGeom prst="rect">
            <a:avLst/>
          </a:prstGeom>
          <a:ln w="9525">
            <a:solidFill>
              <a:srgbClr val="D9D9D9"/>
            </a:solidFill>
          </a:ln>
        </p:spPr>
      </p:pic>
      <p:sp>
        <p:nvSpPr>
          <p:cNvPr id="10" name="TextBox 9"/>
          <p:cNvSpPr txBox="1"/>
          <p:nvPr/>
        </p:nvSpPr>
        <p:spPr>
          <a:xfrm>
            <a:off x="6345936" y="3913632"/>
            <a:ext cx="3118104" cy="237744"/>
          </a:xfrm>
          <a:prstGeom prst="rect">
            <a:avLst/>
          </a:prstGeom>
          <a:solidFill>
            <a:srgbClr val="FFFFFF"/>
          </a:solidFill>
          <a:ln w="9525">
            <a:solidFill>
              <a:srgbClr val="999999"/>
            </a:solidFill>
          </a:ln>
        </p:spPr>
        <p:txBody>
          <a:bodyPr wrap="square" anchor="ctr" lIns="25400" rIns="25400" tIns="25400" bIns="25400">
            <a:spAutoFit/>
          </a:bodyPr>
          <a:lstStyle/>
          <a:p>
            <a:pPr algn="ctr"/>
            <a:r>
              <a:rPr sz="1000" b="1">
                <a:solidFill>
                  <a:srgbClr val="000000"/>
                </a:solidFill>
                <a:latin typeface="游ゴシック"/>
                <a:ea typeface="游ゴシック"/>
                <a:cs typeface="游ゴシック"/>
              </a:rPr>
              <a:t>D：イベント設営（Google gemini-3-pro-image-preview）</a:t>
            </a:r>
          </a:p>
        </p:txBody>
      </p:sp>
      <p:pic>
        <p:nvPicPr>
          <p:cNvPr id="11" name="Picture 10" descr="0071_3.png"/>
          <p:cNvPicPr>
            <a:picLocks noChangeAspect="1"/>
          </p:cNvPicPr>
          <p:nvPr/>
        </p:nvPicPr>
        <p:blipFill>
          <a:blip r:embed="rId5"/>
          <a:stretch>
            <a:fillRect/>
          </a:stretch>
        </p:blipFill>
        <p:spPr>
          <a:xfrm>
            <a:off x="6345936" y="4187952"/>
            <a:ext cx="3118104" cy="2011680"/>
          </a:xfrm>
          <a:prstGeom prst="rect">
            <a:avLst/>
          </a:prstGeom>
          <a:ln w="9525">
            <a:solidFill>
              <a:srgbClr val="D9D9D9"/>
            </a:solidFill>
          </a:ln>
        </p:spPr>
      </p:pic>
      <p:sp>
        <p:nvSpPr>
          <p:cNvPr id="12" name="TextBox 11"/>
          <p:cNvSpPr txBox="1"/>
          <p:nvPr/>
        </p:nvSpPr>
        <p:spPr>
          <a:xfrm>
            <a:off x="457200" y="6272784"/>
            <a:ext cx="11247120" cy="237744"/>
          </a:xfrm>
          <a:prstGeom prst="rect">
            <a:avLst/>
          </a:prstGeom>
          <a:noFill/>
        </p:spPr>
        <p:txBody>
          <a:bodyPr wrap="square" anchor="t" lIns="25400" rIns="25400" tIns="25400" bIns="25400">
            <a:spAutoFit/>
          </a:bodyPr>
          <a:lstStyle/>
          <a:p>
            <a:pPr algn="l"/>
            <a:r>
              <a:rPr sz="900" b="0">
                <a:solidFill>
                  <a:srgbClr val="5E5E5E"/>
                </a:solidFill>
                <a:latin typeface="游ゴシック"/>
                <a:ea typeface="游ゴシック"/>
                <a:cs typeface="游ゴシック"/>
              </a:rPr>
              <a:t>※写真は選抜前の4案（A/B/C/D）を並列提示しています。最終版で1案に選抜します。</a:t>
            </a:r>
          </a:p>
        </p:txBody>
      </p:sp>
      <p:sp>
        <p:nvSpPr>
          <p:cNvPr id="13" name="TextBox 12"/>
          <p:cNvSpPr txBox="1"/>
          <p:nvPr/>
        </p:nvSpPr>
        <p:spPr>
          <a:xfrm>
            <a:off x="301752" y="6455664"/>
            <a:ext cx="5029200" cy="310896"/>
          </a:xfrm>
          <a:prstGeom prst="rect">
            <a:avLst/>
          </a:prstGeom>
          <a:noFill/>
        </p:spPr>
        <p:txBody>
          <a:bodyPr wrap="square" anchor="ctr" lIns="25400" rIns="25400" tIns="25400" bIns="25400">
            <a:spAutoFit/>
          </a:bodyPr>
          <a:lstStyle/>
          <a:p>
            <a:pPr algn="l"/>
            <a:r>
              <a:rPr sz="900" b="0">
                <a:solidFill>
                  <a:srgbClr val="5E5E5E"/>
                </a:solidFill>
                <a:latin typeface="游ゴシック"/>
                <a:ea typeface="游ゴシック"/>
                <a:cs typeface="游ゴシック"/>
              </a:rPr>
              <a:t>©Hakuten Corporation All Rights Reserved.</a:t>
            </a:r>
          </a:p>
        </p:txBody>
      </p:sp>
      <p:pic>
        <p:nvPicPr>
          <p:cNvPr id="14" name="Picture 13" descr="footer_strip_raw.png"/>
          <p:cNvPicPr>
            <a:picLocks noChangeAspect="1"/>
          </p:cNvPicPr>
          <p:nvPr/>
        </p:nvPicPr>
        <p:blipFill>
          <a:blip r:embed="rId6"/>
          <a:stretch>
            <a:fillRect/>
          </a:stretch>
        </p:blipFill>
        <p:spPr>
          <a:xfrm>
            <a:off x="8183879" y="6437376"/>
            <a:ext cx="2880360" cy="288035"/>
          </a:xfrm>
          <a:prstGeom prst="rect">
            <a:avLst/>
          </a:prstGeom>
        </p:spPr>
      </p:pic>
      <p:sp>
        <p:nvSpPr>
          <p:cNvPr id="15" name="TextBox 14"/>
          <p:cNvSpPr txBox="1"/>
          <p:nvPr/>
        </p:nvSpPr>
        <p:spPr>
          <a:xfrm>
            <a:off x="11475720" y="6419088"/>
            <a:ext cx="502920" cy="310896"/>
          </a:xfrm>
          <a:prstGeom prst="rect">
            <a:avLst/>
          </a:prstGeom>
          <a:noFill/>
        </p:spPr>
        <p:txBody>
          <a:bodyPr wrap="square" anchor="ctr" lIns="25400" rIns="25400" tIns="25400" bIns="25400">
            <a:spAutoFit/>
          </a:bodyPr>
          <a:lstStyle/>
          <a:p>
            <a:pPr algn="r"/>
            <a:r>
              <a:rPr sz="1000" b="0">
                <a:solidFill>
                  <a:srgbClr val="5E5E5E"/>
                </a:solidFill>
                <a:latin typeface="游ゴシック"/>
                <a:ea typeface="游ゴシック"/>
                <a:cs typeface="游ゴシック"/>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
            <a:ext cx="11247120" cy="731520"/>
          </a:xfrm>
          <a:prstGeom prst="rect">
            <a:avLst/>
          </a:prstGeom>
          <a:noFill/>
        </p:spPr>
        <p:txBody>
          <a:bodyPr wrap="square" anchor="t" lIns="25400" rIns="25400" tIns="25400" bIns="25400">
            <a:spAutoFit/>
          </a:bodyPr>
          <a:lstStyle/>
          <a:p>
            <a:pPr algn="l"/>
            <a:r>
              <a:rPr sz="2700" b="1">
                <a:solidFill>
                  <a:srgbClr val="000000"/>
                </a:solidFill>
                <a:latin typeface="游ゴシック"/>
                <a:ea typeface="游ゴシック"/>
                <a:cs typeface="游ゴシック"/>
              </a:rPr>
              <a:t>重大事故概要 #0071 高所作業車 下がり壁と手すりの間に挟まれ</a:t>
            </a:r>
          </a:p>
        </p:txBody>
      </p:sp>
      <p:sp>
        <p:nvSpPr>
          <p:cNvPr id="3" name="TextBox 2"/>
          <p:cNvSpPr txBox="1"/>
          <p:nvPr/>
        </p:nvSpPr>
        <p:spPr>
          <a:xfrm>
            <a:off x="457200" y="978408"/>
            <a:ext cx="11247120" cy="274320"/>
          </a:xfrm>
          <a:prstGeom prst="rect">
            <a:avLst/>
          </a:prstGeom>
          <a:noFill/>
        </p:spPr>
        <p:txBody>
          <a:bodyPr wrap="square" anchor="t" lIns="25400" rIns="25400" tIns="25400" bIns="25400">
            <a:spAutoFit/>
          </a:bodyPr>
          <a:lstStyle/>
          <a:p>
            <a:pPr algn="l"/>
            <a:r>
              <a:rPr sz="1100" b="0">
                <a:solidFill>
                  <a:srgbClr val="5E5E5E"/>
                </a:solidFill>
                <a:latin typeface="游ゴシック"/>
                <a:ea typeface="游ゴシック"/>
                <a:cs typeface="游ゴシック"/>
              </a:rPr>
              <a:t>監修：金田 義太（労働安全コンサルタント 登録第4840号）</a:t>
            </a:r>
          </a:p>
        </p:txBody>
      </p:sp>
      <p:graphicFrame>
        <p:nvGraphicFramePr>
          <p:cNvPr id="4" name="Table 3"/>
          <p:cNvGraphicFramePr>
            <a:graphicFrameLocks noGrp="1"/>
          </p:cNvGraphicFramePr>
          <p:nvPr/>
        </p:nvGraphicFramePr>
        <p:xfrm>
          <a:off x="548640" y="1325880"/>
          <a:ext cx="11091672" cy="5029200"/>
        </p:xfrm>
        <a:graphic>
          <a:graphicData uri="http://schemas.openxmlformats.org/drawingml/2006/table">
            <a:tbl>
              <a:tblPr>
                <a:tableStyleId>{5C22544A-7EE6-4342-B048-85BDC9FD1C3A}</a:tableStyleId>
              </a:tblPr>
              <a:tblGrid>
                <a:gridCol w="2057400"/>
                <a:gridCol w="9034272"/>
              </a:tblGrid>
              <a:tr h="502920">
                <a:tc>
                  <a:txBody>
                    <a:bodyPr/>
                    <a:lstStyle/>
                    <a:p>
                      <a:r>
                        <a:rPr sz="1300" b="1">
                          <a:solidFill>
                            <a:srgbClr val="000000"/>
                          </a:solidFill>
                          <a:latin typeface="游ゴシック"/>
                          <a:ea typeface="游ゴシック"/>
                          <a:cs typeface="游ゴシック"/>
                        </a:rPr>
                        <a:t>発覚日時</a:t>
                      </a:r>
                    </a:p>
                  </a:txBody>
                  <a:tcPr anchor="ctr" marL="101600">
                    <a:solidFill>
                      <a:srgbClr val="D9D9D9"/>
                    </a:solidFill>
                  </a:tcPr>
                </a:tc>
                <a:tc>
                  <a:txBody>
                    <a:bodyPr wrap="square"/>
                    <a:lstStyle/>
                    <a:p>
                      <a:r>
                        <a:rPr sz="1200">
                          <a:solidFill>
                            <a:srgbClr val="000000"/>
                          </a:solidFill>
                          <a:latin typeface="游ゴシック"/>
                          <a:ea typeface="游ゴシック"/>
                          <a:cs typeface="游ゴシック"/>
                        </a:rPr>
                        <a:t>記載なし（あんぜんサイト No.100076 は発生年月日を非掲載）</a:t>
                      </a:r>
                    </a:p>
                  </a:txBody>
                  <a:tcPr anchor="ctr" marL="127000" marT="50800" marB="50800">
                    <a:solidFill>
                      <a:srgbClr val="FFFFFF"/>
                    </a:solidFill>
                  </a:tcPr>
                </a:tc>
              </a:tr>
              <a:tr h="502920">
                <a:tc>
                  <a:txBody>
                    <a:bodyPr/>
                    <a:lstStyle/>
                    <a:p>
                      <a:r>
                        <a:rPr sz="1300" b="1">
                          <a:solidFill>
                            <a:srgbClr val="000000"/>
                          </a:solidFill>
                          <a:latin typeface="游ゴシック"/>
                          <a:ea typeface="游ゴシック"/>
                          <a:cs typeface="游ゴシック"/>
                        </a:rPr>
                        <a:t>プロジェクト名</a:t>
                      </a:r>
                    </a:p>
                  </a:txBody>
                  <a:tcPr anchor="ctr" marL="101600">
                    <a:solidFill>
                      <a:srgbClr val="D9D9D9"/>
                    </a:solidFill>
                  </a:tcPr>
                </a:tc>
                <a:tc>
                  <a:txBody>
                    <a:bodyPr wrap="square"/>
                    <a:lstStyle/>
                    <a:p>
                      <a:r>
                        <a:rPr sz="1200">
                          <a:solidFill>
                            <a:srgbClr val="000000"/>
                          </a:solidFill>
                          <a:latin typeface="游ゴシック"/>
                          <a:ea typeface="游ゴシック"/>
                          <a:cs typeface="游ゴシック"/>
                        </a:rPr>
                        <a:t>博展 事故事例集／高所作業車</a:t>
                      </a:r>
                    </a:p>
                  </a:txBody>
                  <a:tcPr anchor="ctr" marL="127000" marT="50800" marB="50800">
                    <a:solidFill>
                      <a:srgbClr val="FFFFFF"/>
                    </a:solidFill>
                  </a:tcPr>
                </a:tc>
              </a:tr>
              <a:tr h="1051560">
                <a:tc>
                  <a:txBody>
                    <a:bodyPr/>
                    <a:lstStyle/>
                    <a:p>
                      <a:r>
                        <a:rPr sz="1300" b="1">
                          <a:solidFill>
                            <a:srgbClr val="000000"/>
                          </a:solidFill>
                          <a:latin typeface="游ゴシック"/>
                          <a:ea typeface="游ゴシック"/>
                          <a:cs typeface="游ゴシック"/>
                        </a:rPr>
                        <a:t>発生事象</a:t>
                      </a:r>
                    </a:p>
                  </a:txBody>
                  <a:tcPr anchor="ctr" marL="101600">
                    <a:solidFill>
                      <a:srgbClr val="D9D9D9"/>
                    </a:solidFill>
                  </a:tcPr>
                </a:tc>
                <a:tc>
                  <a:txBody>
                    <a:bodyPr wrap="square"/>
                    <a:lstStyle/>
                    <a:p>
                      <a:r>
                        <a:rPr sz="1200">
                          <a:solidFill>
                            <a:srgbClr val="000000"/>
                          </a:solidFill>
                          <a:latin typeface="游ゴシック"/>
                          <a:ea typeface="游ゴシック"/>
                          <a:cs typeface="游ゴシック"/>
                        </a:rPr>
                        <a:t>6階建の建設工事現場の地下室で、コンクリート壁の仕上げ（Pコン埋め）のため、被災者が高所作業車に乗って単独で移動中、扉取付部の下がり壁と高所作業車の手すりとの隙間が狭く、その間に挟まれ、同日に死亡した（死亡者1人）。</a:t>
                      </a:r>
                    </a:p>
                  </a:txBody>
                  <a:tcPr anchor="ctr" marL="127000" marT="50800" marB="50800">
                    <a:solidFill>
                      <a:srgbClr val="FFFFFF"/>
                    </a:solidFill>
                  </a:tcPr>
                </a:tc>
              </a:tr>
              <a:tr h="960120">
                <a:tc>
                  <a:txBody>
                    <a:bodyPr/>
                    <a:lstStyle/>
                    <a:p>
                      <a:r>
                        <a:rPr sz="1300" b="1">
                          <a:solidFill>
                            <a:srgbClr val="000000"/>
                          </a:solidFill>
                          <a:latin typeface="游ゴシック"/>
                          <a:ea typeface="游ゴシック"/>
                          <a:cs typeface="游ゴシック"/>
                        </a:rPr>
                        <a:t>原因概要</a:t>
                      </a:r>
                    </a:p>
                  </a:txBody>
                  <a:tcPr anchor="ctr" marL="101600">
                    <a:solidFill>
                      <a:srgbClr val="D9D9D9"/>
                    </a:solidFill>
                  </a:tcPr>
                </a:tc>
                <a:tc>
                  <a:txBody>
                    <a:bodyPr wrap="square"/>
                    <a:lstStyle/>
                    <a:p>
                      <a:r>
                        <a:rPr sz="1200">
                          <a:solidFill>
                            <a:srgbClr val="000000"/>
                          </a:solidFill>
                          <a:latin typeface="游ゴシック"/>
                          <a:ea typeface="游ゴシック"/>
                          <a:cs typeface="游ゴシック"/>
                        </a:rPr>
                        <a:t>通り抜けようとした扉取付用開口部の寸法に対し高所作業車のクリアランスが無く、下がり壁と手すりの間に挟まれたこと。背景に、運転の特別教育未受講、作業計画・作業指揮者の未選任。</a:t>
                      </a:r>
                    </a:p>
                  </a:txBody>
                  <a:tcPr anchor="ctr" marL="127000" marT="50800" marB="50800">
                    <a:solidFill>
                      <a:srgbClr val="FFFFFF"/>
                    </a:solidFill>
                  </a:tcPr>
                </a:tc>
              </a:tr>
              <a:tr h="777240">
                <a:tc>
                  <a:txBody>
                    <a:bodyPr/>
                    <a:lstStyle/>
                    <a:p>
                      <a:r>
                        <a:rPr sz="1300" b="1">
                          <a:solidFill>
                            <a:srgbClr val="000000"/>
                          </a:solidFill>
                          <a:latin typeface="游ゴシック"/>
                          <a:ea typeface="游ゴシック"/>
                          <a:cs typeface="游ゴシック"/>
                        </a:rPr>
                        <a:t>対応（想定）</a:t>
                      </a:r>
                    </a:p>
                  </a:txBody>
                  <a:tcPr anchor="ctr" marL="101600">
                    <a:solidFill>
                      <a:srgbClr val="D9D9D9"/>
                    </a:solidFill>
                  </a:tcPr>
                </a:tc>
                <a:tc>
                  <a:txBody>
                    <a:bodyPr wrap="square"/>
                    <a:lstStyle/>
                    <a:p>
                      <a:r>
                        <a:rPr sz="1200">
                          <a:solidFill>
                            <a:srgbClr val="000000"/>
                          </a:solidFill>
                          <a:latin typeface="游ゴシック"/>
                          <a:ea typeface="游ゴシック"/>
                          <a:cs typeface="游ゴシック"/>
                        </a:rPr>
                        <a:t>被災者の救護・救急通報、高所作業車の運転停止と現場保全、狭隘箇所（下がり壁・開口部）と通行寸法の点検、作業計画・指揮者・特別教育体制の見直しと周知（実際の事後対応は出典に記載なし＝想定・AI整理）。</a:t>
                      </a:r>
                    </a:p>
                  </a:txBody>
                  <a:tcPr anchor="ctr" marL="127000" marT="50800" marB="50800">
                    <a:solidFill>
                      <a:srgbClr val="FFFFFF"/>
                    </a:solidFill>
                  </a:tcPr>
                </a:tc>
              </a:tr>
              <a:tr h="1234440">
                <a:tc>
                  <a:txBody>
                    <a:bodyPr/>
                    <a:lstStyle/>
                    <a:p>
                      <a:r>
                        <a:rPr sz="1300" b="1">
                          <a:solidFill>
                            <a:srgbClr val="000000"/>
                          </a:solidFill>
                          <a:latin typeface="游ゴシック"/>
                          <a:ea typeface="游ゴシック"/>
                          <a:cs typeface="游ゴシック"/>
                        </a:rPr>
                        <a:t>対策概要</a:t>
                      </a:r>
                    </a:p>
                  </a:txBody>
                  <a:tcPr anchor="ctr" marL="101600">
                    <a:solidFill>
                      <a:srgbClr val="D9D9D9"/>
                    </a:solidFill>
                  </a:tcPr>
                </a:tc>
                <a:tc>
                  <a:txBody>
                    <a:bodyPr wrap="square"/>
                    <a:lstStyle/>
                    <a:p>
                      <a:pPr>
                        <a:spcAft>
                          <a:spcPts val="200"/>
                        </a:spcAft>
                      </a:pPr>
                      <a:r>
                        <a:rPr sz="1150">
                          <a:solidFill>
                            <a:srgbClr val="000000"/>
                          </a:solidFill>
                          <a:latin typeface="游ゴシック"/>
                          <a:ea typeface="游ゴシック"/>
                          <a:cs typeface="游ゴシック"/>
                        </a:rPr>
                        <a:t>・高所作業車の運転業務には技能講習・特別教育修了者を就かせ、指名者以外が運転しないようキーを確実に保管する。</a:t>
                      </a:r>
                    </a:p>
                    <a:p>
                      <a:pPr>
                        <a:spcAft>
                          <a:spcPts val="200"/>
                        </a:spcAft>
                      </a:pPr>
                      <a:r>
                        <a:rPr sz="1150">
                          <a:solidFill>
                            <a:srgbClr val="000000"/>
                          </a:solidFill>
                          <a:latin typeface="游ゴシック"/>
                          <a:ea typeface="游ゴシック"/>
                          <a:cs typeface="游ゴシック"/>
                        </a:rPr>
                        <a:t>・高所作業車を用いる作業は、あらかじめ作業場所に適応する作業計画を定める。</a:t>
                      </a:r>
                    </a:p>
                    <a:p>
                      <a:pPr>
                        <a:spcAft>
                          <a:spcPts val="200"/>
                        </a:spcAft>
                      </a:pPr>
                      <a:r>
                        <a:rPr sz="1150">
                          <a:solidFill>
                            <a:srgbClr val="000000"/>
                          </a:solidFill>
                          <a:latin typeface="游ゴシック"/>
                          <a:ea typeface="游ゴシック"/>
                          <a:cs typeface="游ゴシック"/>
                        </a:rPr>
                        <a:t>・作業開始前に場所・手順・分担・安全配慮事項を説明・打合せし、指揮者を定めて作業を行う。運転者に技能向上教育を実施する。</a:t>
                      </a:r>
                    </a:p>
                  </a:txBody>
                  <a:tcPr anchor="ctr" marL="127000" marT="50800" marB="50800">
                    <a:solidFill>
                      <a:srgbClr val="FFFFFF"/>
                    </a:solidFill>
                  </a:tcPr>
                </a:tc>
              </a:tr>
            </a:tbl>
          </a:graphicData>
        </a:graphic>
      </p:graphicFrame>
      <p:sp>
        <p:nvSpPr>
          <p:cNvPr id="5" name="TextBox 4"/>
          <p:cNvSpPr txBox="1"/>
          <p:nvPr/>
        </p:nvSpPr>
        <p:spPr>
          <a:xfrm>
            <a:off x="548640" y="6409944"/>
            <a:ext cx="11091672" cy="457200"/>
          </a:xfrm>
          <a:prstGeom prst="rect">
            <a:avLst/>
          </a:prstGeom>
          <a:noFill/>
        </p:spPr>
        <p:txBody>
          <a:bodyPr wrap="square" anchor="t" lIns="25400" rIns="25400" tIns="25400" bIns="25400">
            <a:spAutoFit/>
          </a:bodyPr>
          <a:lstStyle/>
          <a:p>
            <a:pPr algn="l"/>
            <a:r>
              <a:rPr sz="950" b="0">
                <a:solidFill>
                  <a:srgbClr val="5E5E5E"/>
                </a:solidFill>
                <a:latin typeface="游ゴシック"/>
                <a:ea typeface="游ゴシック"/>
                <a:cs typeface="游ゴシック"/>
              </a:rPr>
              <a:t>出典：https://anzeninfo.mhlw.go.jp/anzen_pg/sai_det.aspx?joho_no=100076 （厚労省 職場のあんぜんサイト 労働災害事例 No.100076／HTTP200・本文一致確認済）</a:t>
            </a:r>
          </a:p>
        </p:txBody>
      </p:sp>
      <p:sp>
        <p:nvSpPr>
          <p:cNvPr id="6" name="TextBox 5"/>
          <p:cNvSpPr txBox="1"/>
          <p:nvPr/>
        </p:nvSpPr>
        <p:spPr>
          <a:xfrm>
            <a:off x="301752" y="6455664"/>
            <a:ext cx="5029200" cy="310896"/>
          </a:xfrm>
          <a:prstGeom prst="rect">
            <a:avLst/>
          </a:prstGeom>
          <a:noFill/>
        </p:spPr>
        <p:txBody>
          <a:bodyPr wrap="square" anchor="ctr" lIns="25400" rIns="25400" tIns="25400" bIns="25400">
            <a:spAutoFit/>
          </a:bodyPr>
          <a:lstStyle/>
          <a:p>
            <a:pPr algn="l"/>
            <a:r>
              <a:rPr sz="900" b="0">
                <a:solidFill>
                  <a:srgbClr val="5E5E5E"/>
                </a:solidFill>
                <a:latin typeface="游ゴシック"/>
                <a:ea typeface="游ゴシック"/>
                <a:cs typeface="游ゴシック"/>
              </a:rPr>
              <a:t>©Hakuten Corporation All Rights Reserved.</a:t>
            </a:r>
          </a:p>
        </p:txBody>
      </p:sp>
      <p:pic>
        <p:nvPicPr>
          <p:cNvPr id="7" name="Picture 6" descr="footer_strip_raw.png"/>
          <p:cNvPicPr>
            <a:picLocks noChangeAspect="1"/>
          </p:cNvPicPr>
          <p:nvPr/>
        </p:nvPicPr>
        <p:blipFill>
          <a:blip r:embed="rId2"/>
          <a:stretch>
            <a:fillRect/>
          </a:stretch>
        </p:blipFill>
        <p:spPr>
          <a:xfrm>
            <a:off x="8183879" y="6437376"/>
            <a:ext cx="2880360" cy="288035"/>
          </a:xfrm>
          <a:prstGeom prst="rect">
            <a:avLst/>
          </a:prstGeom>
        </p:spPr>
      </p:pic>
      <p:sp>
        <p:nvSpPr>
          <p:cNvPr id="8" name="TextBox 7"/>
          <p:cNvSpPr txBox="1"/>
          <p:nvPr/>
        </p:nvSpPr>
        <p:spPr>
          <a:xfrm>
            <a:off x="11475720" y="6419088"/>
            <a:ext cx="502920" cy="310896"/>
          </a:xfrm>
          <a:prstGeom prst="rect">
            <a:avLst/>
          </a:prstGeom>
          <a:noFill/>
        </p:spPr>
        <p:txBody>
          <a:bodyPr wrap="square" anchor="ctr" lIns="25400" rIns="25400" tIns="25400" bIns="25400">
            <a:spAutoFit/>
          </a:bodyPr>
          <a:lstStyle/>
          <a:p>
            <a:pPr algn="r"/>
            <a:r>
              <a:rPr sz="1000" b="0">
                <a:solidFill>
                  <a:srgbClr val="5E5E5E"/>
                </a:solidFill>
                <a:latin typeface="游ゴシック"/>
                <a:ea typeface="游ゴシック"/>
                <a:cs typeface="游ゴシック"/>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