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V3 素材一覧（LAYV19）。視点固定レイヤー合成のための素材カタログ。TGL=視点A（bg_tgl・obj_rollcage_collapsing・worker_pinned）、高所=視点B（bg_aerial・worker_basket）。各パーツに視点A/Bを明記。Googleのみ生成素材（gemini-3-pro-image-preview）・OpenAI不使用・非破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V4 合成見本（LAYV19）。視点固定方式の検証・たたき台。TGL（視点A）の bg_tgl を全面に敷き、同じ視点Aで生成した obj_rollcage_collapsing（崩れカゴ車）と worker_pinned（下敷き作業員）を回転は最小限（無回転）でそのまま重ねて事故シーンを1つ作成。各パーツは個別の画像オブジェクト（焼き込まない＝移動・回転・拡縮が可能）。生成時点で角度を揃える方式のため、パワポ側での回転合わせはほぼ不要。Googleのみ生成素材（gemini-3-pro-image-preview）・OpenAI不使用・非破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60175" cy="45720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/>
            <a:r>
              <a:rPr sz="2200" b="1" lang="ja-JP" altLang="en-US">
                <a:solidFill>
                  <a:srgbClr val="1F3A5F"/>
                </a:solidFill>
                <a:latin typeface="游ゴシック"/>
                <a:ea typeface="游ゴシック"/>
                <a:cs typeface="游ゴシック"/>
              </a:rPr>
              <a:t>素材一覧 — 視点固定レイヤー合成（LAYV19）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03504"/>
            <a:ext cx="11460175" cy="310896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/>
            <a:r>
              <a:rPr sz="1000" b="0" lang="ja-JP" altLang="en-US">
                <a:solidFill>
                  <a:srgbClr val="444444"/>
                </a:solidFill>
                <a:latin typeface="游ゴシック"/>
                <a:ea typeface="游ゴシック"/>
                <a:cs typeface="游ゴシック"/>
              </a:rPr>
              <a:t>各シチュでカメラ視点を1つ決め打ちし、背景・荷物・作業員を同じ視点/目線高さ/パース/光源で生成（角度を生成時点で一致）。Googleのみ＝gemini-3-pro-image-preview・OpenAI不使用。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32520" y="182880"/>
            <a:ext cx="1554480" cy="29260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0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視点A = TGL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78440" y="182880"/>
            <a:ext cx="1554480" cy="292608"/>
          </a:xfrm>
          <a:prstGeom prst="roundRect">
            <a:avLst/>
          </a:prstGeom>
          <a:solidFill>
            <a:srgbClr val="0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0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視点B = 高所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78992"/>
            <a:ext cx="146304" cy="3108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060704"/>
            <a:ext cx="8229600" cy="347472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/>
            <a:r>
              <a:rPr sz="1400" b="1" lang="ja-JP" altLang="en-US">
                <a:solidFill>
                  <a:srgbClr val="1F3A5F"/>
                </a:solidFill>
                <a:latin typeface="游ゴシック"/>
                <a:ea typeface="游ゴシック"/>
                <a:cs typeface="游ゴシック"/>
              </a:rPr>
              <a:t>シチュ1：TGL（荷崩れ・下敷き）／全パーツ＝視点A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81328"/>
            <a:ext cx="3657600" cy="2377440"/>
          </a:xfrm>
          <a:prstGeom prst="rect">
            <a:avLst/>
          </a:prstGeom>
          <a:solidFill>
            <a:srgbClr val="F6F6F6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g_tg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36" y="1554480"/>
            <a:ext cx="3051048" cy="166420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108960" y="1554480"/>
            <a:ext cx="841248" cy="27432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0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視点A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" y="3328416"/>
            <a:ext cx="3547872" cy="27432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/>
            <a:r>
              <a:rPr sz="1200" b="1" lang="ja-JP" altLang="en-US">
                <a:solidFill>
                  <a:srgbClr val="000000"/>
                </a:solidFill>
                <a:latin typeface="游ゴシック"/>
                <a:ea typeface="游ゴシック"/>
                <a:cs typeface="游ゴシック"/>
              </a:rPr>
              <a:t>bg_tgl（背景）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" y="3584448"/>
            <a:ext cx="3547872" cy="237744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/>
            <a:r>
              <a:rPr sz="900" b="0" lang="ja-JP" altLang="en-US">
                <a:solidFill>
                  <a:srgbClr val="444444"/>
                </a:solidFill>
                <a:latin typeface="游ゴシック"/>
                <a:ea typeface="游ゴシック"/>
                <a:cs typeface="游ゴシック"/>
              </a:rPr>
              <a:t>TGL付きトラック後部・人物なし・不透過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481328"/>
            <a:ext cx="3657600" cy="2377440"/>
          </a:xfrm>
          <a:prstGeom prst="rect">
            <a:avLst/>
          </a:prstGeom>
          <a:solidFill>
            <a:srgbClr val="F6F6F6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bj_rollcage_collapsing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1586" y="1554480"/>
            <a:ext cx="1414923" cy="166420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013448" y="1554480"/>
            <a:ext cx="841248" cy="27432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0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視点A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5112" y="3328416"/>
            <a:ext cx="3547872" cy="27432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/>
            <a:r>
              <a:rPr sz="1200" b="1" lang="ja-JP" altLang="en-US">
                <a:solidFill>
                  <a:srgbClr val="000000"/>
                </a:solidFill>
                <a:latin typeface="游ゴシック"/>
                <a:ea typeface="游ゴシック"/>
                <a:cs typeface="游ゴシック"/>
              </a:rPr>
              <a:t>obj_rollcage_collapsing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3584448"/>
            <a:ext cx="3547872" cy="237744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/>
            <a:r>
              <a:rPr sz="900" b="0" lang="ja-JP" altLang="en-US">
                <a:solidFill>
                  <a:srgbClr val="444444"/>
                </a:solidFill>
                <a:latin typeface="游ゴシック"/>
                <a:ea typeface="游ゴシック"/>
                <a:cs typeface="游ゴシック"/>
              </a:rPr>
              <a:t>崩れたカゴ車・透過RGBA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74736" y="1481328"/>
            <a:ext cx="3657600" cy="2377440"/>
          </a:xfrm>
          <a:prstGeom prst="rect">
            <a:avLst/>
          </a:prstGeom>
          <a:solidFill>
            <a:srgbClr val="F6F6F6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worker_pinned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1582908"/>
            <a:ext cx="3511296" cy="160735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10917936" y="1554480"/>
            <a:ext cx="841248" cy="27432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0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視点A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328416"/>
            <a:ext cx="3547872" cy="27432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/>
            <a:r>
              <a:rPr sz="1200" b="1" lang="ja-JP" altLang="en-US">
                <a:solidFill>
                  <a:srgbClr val="000000"/>
                </a:solidFill>
                <a:latin typeface="游ゴシック"/>
                <a:ea typeface="游ゴシック"/>
                <a:cs typeface="游ゴシック"/>
              </a:rPr>
              <a:t>worker_pinned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3584448"/>
            <a:ext cx="3547872" cy="237744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/>
            <a:r>
              <a:rPr sz="900" b="0" lang="ja-JP" altLang="en-US">
                <a:solidFill>
                  <a:srgbClr val="444444"/>
                </a:solidFill>
                <a:latin typeface="游ゴシック"/>
                <a:ea typeface="游ゴシック"/>
                <a:cs typeface="游ゴシック"/>
              </a:rPr>
              <a:t>下敷き作業員・フルハーネス・透過・流血なし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041648"/>
            <a:ext cx="146304" cy="310896"/>
          </a:xfrm>
          <a:prstGeom prst="rect">
            <a:avLst/>
          </a:prstGeom>
          <a:solidFill>
            <a:srgbClr val="0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4023360"/>
            <a:ext cx="8229600" cy="347472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/>
            <a:r>
              <a:rPr sz="1400" b="1" lang="ja-JP" altLang="en-US">
                <a:solidFill>
                  <a:srgbClr val="0E6E6E"/>
                </a:solidFill>
                <a:latin typeface="游ゴシック"/>
                <a:ea typeface="游ゴシック"/>
                <a:cs typeface="游ゴシック"/>
              </a:rPr>
              <a:t>シチュ2：高所作業車（バスケットでの被災）／全パーツ＝視点B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443984"/>
            <a:ext cx="3657600" cy="2377440"/>
          </a:xfrm>
          <a:prstGeom prst="rect">
            <a:avLst/>
          </a:prstGeom>
          <a:solidFill>
            <a:srgbClr val="F6F6F6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bg_aeri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036" y="4517136"/>
            <a:ext cx="3051048" cy="1664208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3108960" y="4517136"/>
            <a:ext cx="841248" cy="274320"/>
          </a:xfrm>
          <a:prstGeom prst="roundRect">
            <a:avLst/>
          </a:prstGeom>
          <a:solidFill>
            <a:srgbClr val="0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0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視点B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624" y="6291072"/>
            <a:ext cx="3547872" cy="27432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/>
            <a:r>
              <a:rPr sz="1200" b="1" lang="ja-JP" altLang="en-US">
                <a:solidFill>
                  <a:srgbClr val="000000"/>
                </a:solidFill>
                <a:latin typeface="游ゴシック"/>
                <a:ea typeface="游ゴシック"/>
                <a:cs typeface="游ゴシック"/>
              </a:rPr>
              <a:t>bg_aerial（背景）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" y="6547104"/>
            <a:ext cx="3547872" cy="237744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/>
            <a:r>
              <a:rPr sz="900" b="0" lang="ja-JP" altLang="en-US">
                <a:solidFill>
                  <a:srgbClr val="444444"/>
                </a:solidFill>
                <a:latin typeface="游ゴシック"/>
                <a:ea typeface="游ゴシック"/>
                <a:cs typeface="游ゴシック"/>
              </a:rPr>
              <a:t>ブーム式高所作業車・立上・人物なし・不透過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70248" y="4443984"/>
            <a:ext cx="3657600" cy="2377440"/>
          </a:xfrm>
          <a:prstGeom prst="rect">
            <a:avLst/>
          </a:prstGeom>
          <a:solidFill>
            <a:srgbClr val="F6F6F6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worker_basket_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3848" y="4517136"/>
            <a:ext cx="2930399" cy="16642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7013448" y="4517136"/>
            <a:ext cx="841248" cy="274320"/>
          </a:xfrm>
          <a:prstGeom prst="roundRect">
            <a:avLst/>
          </a:prstGeom>
          <a:solidFill>
            <a:srgbClr val="0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0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視点B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25112" y="6291072"/>
            <a:ext cx="3547872" cy="27432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/>
            <a:r>
              <a:rPr sz="1200" b="1" lang="ja-JP" altLang="en-US">
                <a:solidFill>
                  <a:srgbClr val="000000"/>
                </a:solidFill>
                <a:latin typeface="游ゴシック"/>
                <a:ea typeface="游ゴシック"/>
                <a:cs typeface="游ゴシック"/>
              </a:rPr>
              <a:t>worker_basket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25112" y="6547104"/>
            <a:ext cx="3547872" cy="237744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/>
            <a:r>
              <a:rPr sz="900" b="0" lang="ja-JP" altLang="en-US">
                <a:solidFill>
                  <a:srgbClr val="444444"/>
                </a:solidFill>
                <a:latin typeface="游ゴシック"/>
                <a:ea typeface="游ゴシック"/>
                <a:cs typeface="游ゴシック"/>
              </a:rPr>
              <a:t>バスケット内被災・フルハーネス・透過・流血なし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4443984"/>
            <a:ext cx="3931920" cy="2377440"/>
          </a:xfrm>
          <a:prstGeom prst="rect">
            <a:avLst/>
          </a:prstGeom>
          <a:noFill/>
        </p:spPr>
        <p:txBody>
          <a:bodyPr wrap="square" anchor="t" lIns="50800" rIns="50800" tIns="12700" bIns="12700">
            <a:spAutoFit/>
          </a:bodyPr>
          <a:lstStyle/>
          <a:p>
            <a:pPr algn="l"/>
            <a:r>
              <a:rPr sz="1100" b="0" lang="ja-JP" altLang="en-US">
                <a:solidFill>
                  <a:srgbClr val="444444"/>
                </a:solidFill>
                <a:latin typeface="游ゴシック"/>
                <a:ea typeface="游ゴシック"/>
                <a:cs typeface="游ゴシック"/>
              </a:rPr>
              <a:t>視点固定方式：
・背景／荷物／作業員を同一視点で生成
・後からの回転合わせを最小化
・各パーツは透過PNG（rembg/Pillowで白背景を除去）
・合成見本は次スライド参照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90652" y="0"/>
            <a:ext cx="12573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4262175"/>
            <a:ext cx="4572000" cy="2092904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655265"/>
            <a:ext cx="2834640" cy="333405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20040" y="292608"/>
            <a:ext cx="3749039" cy="457200"/>
          </a:xfrm>
          <a:prstGeom prst="roundRect">
            <a:avLst/>
          </a:prstGeom>
          <a:solidFill>
            <a:srgbClr val="1F3A5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/>
            <a:r>
              <a:rPr sz="14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合成見本（TGL）／全パーツ＝視点A・無回転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5806440"/>
            <a:ext cx="8595360" cy="777240"/>
          </a:xfrm>
          <a:prstGeom prst="roundRect">
            <a:avLst/>
          </a:prstGeom>
          <a:solidFill>
            <a:srgbClr val="1F3A5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/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視点固定方式の検証・たたき台：</a:t>
            </a:r>
            <a:r>
              <a:rPr sz="1100" b="0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背景／崩れカゴ車／下敷き作業員を同一視点A（同じ目線高さ・パース・光源）で生成し、回転0°でそのまま重ねただけ。各パーツは個別の画像オブジェクト（焼き込み無し＝移動・回転・拡縮可）。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