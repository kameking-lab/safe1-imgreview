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素材一覧（G4）。Googleのみ生成（gemini-3-pro-image-preview）・OpenAI不使用。各パーツは個別の移動・回転・拡縮可能な画像オブジェクト。合成見本(TGL墜落/荷崩れ)は後続スライドで配置。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見本①（G5）TGL墜落。Googleのみ生成素材（gemini-3-pro-image-preview）・OpenAI不使用。背景の上にカゴ車転倒・作業員(驚き/転落)を個別の移動・回転・拡縮可能な画像オブジェクトとして配置。位置/サイズ/回転はパワポ上で微調整する前提のたたき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見本②（G5）TGL荷崩れ・下敷き。Googleのみ生成素材（gemini-3-pro-image-preview）・OpenAI不使用。背景の上にカゴ車崩れ・パネル台車滑落・作業員(足/手の負傷)を個別の移動・回転・拡縮可能な画像オブジェクトとして配置。位置/サイズ/回転はパワポ上で微調整する前提のたたき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素材一覧（レイヤー合成用パーツ）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Google（Nano Banana Pro = gemini-3-pro-image-preview）のみで生成。背景=不透過写真／荷物・作業員=純白背景から透過化したRGBAパーツ。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24128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背景  layers_v18/bg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（3点・不透過）</a:t>
            </a:r>
          </a:p>
        </p:txBody>
      </p:sp>
      <p:pic>
        <p:nvPicPr>
          <p:cNvPr id="5" name="Picture 4" descr="bg_warehous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44" y="1353312"/>
            <a:ext cx="245745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倉庫TGL① bg_warehouse1</a:t>
            </a:r>
          </a:p>
        </p:txBody>
      </p:sp>
      <p:pic>
        <p:nvPicPr>
          <p:cNvPr id="7" name="Picture 6" descr="bg_warehous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22" y="1353312"/>
            <a:ext cx="245745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1058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倉庫TGL② bg_warehouse2</a:t>
            </a:r>
          </a:p>
        </p:txBody>
      </p:sp>
      <p:pic>
        <p:nvPicPr>
          <p:cNvPr id="9" name="Picture 8" descr="bg_venue_d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700" y="1353312"/>
            <a:ext cx="245745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90636" y="2743200"/>
            <a:ext cx="3789578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会場搬入口 bg_venue_dock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07792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荷物パーツ  layers_v18/obj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（4点・透過RGBA）</a:t>
            </a:r>
          </a:p>
        </p:txBody>
      </p:sp>
      <p:pic>
        <p:nvPicPr>
          <p:cNvPr id="12" name="Picture 11" descr="obj_rollcage_collap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91" y="3218688"/>
            <a:ext cx="2346960" cy="128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崩れ collapsing</a:t>
            </a:r>
          </a:p>
        </p:txBody>
      </p:sp>
      <p:pic>
        <p:nvPicPr>
          <p:cNvPr id="14" name="Picture 13" descr="obj_rollcage_tipp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1275" y="3218688"/>
            <a:ext cx="2346960" cy="12801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53663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転倒 tipping</a:t>
            </a:r>
          </a:p>
        </p:txBody>
      </p:sp>
      <p:pic>
        <p:nvPicPr>
          <p:cNvPr id="16" name="Picture 15" descr="obj_rollcage_norm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3459" y="3218688"/>
            <a:ext cx="2346960" cy="12801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5847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カゴ車 正常 normal</a:t>
            </a:r>
          </a:p>
        </p:txBody>
      </p:sp>
      <p:pic>
        <p:nvPicPr>
          <p:cNvPr id="18" name="Picture 17" descr="obj_panelcart_slid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5643" y="3218688"/>
            <a:ext cx="2346960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38031" y="4517136"/>
            <a:ext cx="284218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パネル台車 滑落 sliding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736592"/>
            <a:ext cx="11368735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 lang="ja-JP" altLang="en-US">
                <a:solidFill>
                  <a:srgbClr val="1F3B57"/>
                </a:solidFill>
                <a:latin typeface="游ゴシック"/>
                <a:ea typeface="游ゴシック"/>
                <a:cs typeface="游ゴシック"/>
              </a:rPr>
              <a:t>■ 作業員パーツ  layers_v18/worker</a:t>
            </a: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  （5点・透過RGBA）</a:t>
            </a:r>
          </a:p>
        </p:txBody>
      </p:sp>
      <p:pic>
        <p:nvPicPr>
          <p:cNvPr id="21" name="Picture 20" descr="worker_hand_p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5116915"/>
            <a:ext cx="2109155" cy="11504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480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手を痛がる hand_pain</a:t>
            </a:r>
          </a:p>
        </p:txBody>
      </p:sp>
      <p:pic>
        <p:nvPicPr>
          <p:cNvPr id="23" name="Picture 22" descr="worker_foot_crou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7523" y="5116915"/>
            <a:ext cx="2109155" cy="11504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685227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足を押さえしゃがむ foot_crouch</a:t>
            </a:r>
          </a:p>
        </p:txBody>
      </p:sp>
      <p:pic>
        <p:nvPicPr>
          <p:cNvPr id="25" name="Picture 24" descr="worker_fallen_ba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1270" y="5116915"/>
            <a:ext cx="2109155" cy="11504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58974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仰向け転倒 fallen_back</a:t>
            </a:r>
          </a:p>
        </p:txBody>
      </p:sp>
      <p:pic>
        <p:nvPicPr>
          <p:cNvPr id="27" name="Picture 26" descr="worker_startl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017" y="5116915"/>
            <a:ext cx="2109155" cy="11504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32721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驚き後傾 startled</a:t>
            </a:r>
          </a:p>
        </p:txBody>
      </p:sp>
      <p:pic>
        <p:nvPicPr>
          <p:cNvPr id="29" name="Picture 28" descr="worker_stan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8764" y="5116915"/>
            <a:ext cx="2109155" cy="1150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06468" y="6373368"/>
            <a:ext cx="227374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通常立ち 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11368735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 これはレイヤー合成のたたき台。各部品は移動・回転・拡縮可能な個別画像オブジェクト。最終調整はPowerPoint上で。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bj_rollcage_tippin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20000">
            <a:off x="5590527" y="2606039"/>
            <a:ext cx="4729504" cy="2743200"/>
          </a:xfrm>
          <a:prstGeom prst="rect">
            <a:avLst/>
          </a:prstGeom>
        </p:spPr>
      </p:pic>
      <p:pic>
        <p:nvPicPr>
          <p:cNvPr id="4" name="Picture 3" descr="worker_startle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000000">
            <a:off x="4519168" y="2423160"/>
            <a:ext cx="1934463" cy="2743200"/>
          </a:xfrm>
          <a:prstGeom prst="rect">
            <a:avLst/>
          </a:prstGeom>
        </p:spPr>
      </p:pic>
      <p:pic>
        <p:nvPicPr>
          <p:cNvPr id="5" name="Picture 4" descr="worker_fallen_back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60000">
            <a:off x="999504" y="4114800"/>
            <a:ext cx="3670271" cy="2194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4864"/>
            <a:ext cx="11460175" cy="38404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合成見本① TGL墜落（テールゲートリフターからの転落）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0624"/>
            <a:ext cx="11460175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1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背景=bg_warehouse1／カゴ車転倒(obj_rollcage_tipping)＋驚き後傾(worker_startled)＋転落(worker_fallen_back)。各パーツは個別配置・回転済み。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19088"/>
            <a:ext cx="11460175" cy="40233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0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※ これはレイヤー合成のたたき台。各部品は移動・回転・拡縮可能な個別画像オブジェクト。最終調整はPowerPoint上で。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bj_rollcage_collapsin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00000">
            <a:off x="4410347" y="2194560"/>
            <a:ext cx="4712425" cy="3291840"/>
          </a:xfrm>
          <a:prstGeom prst="rect">
            <a:avLst/>
          </a:prstGeom>
        </p:spPr>
      </p:pic>
      <p:pic>
        <p:nvPicPr>
          <p:cNvPr id="4" name="Picture 3" descr="obj_panelcart_sliding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60000">
            <a:off x="7781808" y="4069080"/>
            <a:ext cx="3821663" cy="1554480"/>
          </a:xfrm>
          <a:prstGeom prst="rect">
            <a:avLst/>
          </a:prstGeom>
        </p:spPr>
      </p:pic>
      <p:pic>
        <p:nvPicPr>
          <p:cNvPr id="5" name="Picture 4" descr="worker_foot_crouch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822" y="3017520"/>
            <a:ext cx="1937154" cy="2926080"/>
          </a:xfrm>
          <a:prstGeom prst="rect">
            <a:avLst/>
          </a:prstGeom>
        </p:spPr>
      </p:pic>
      <p:pic>
        <p:nvPicPr>
          <p:cNvPr id="6" name="Picture 5" descr="worker_hand_pain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4564966" y="2788920"/>
            <a:ext cx="928467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4864"/>
            <a:ext cx="11460175" cy="384048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合成見本② TGL荷崩れ・下敷き（積荷の崩落）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"/>
            <a:ext cx="11460175" cy="274320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1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背景=bg_warehouse2／カゴ車崩れ(obj_rollcage_collapsing)＋パネル台車滑落(obj_panelcart_sliding)＋足負傷(worker_foot_crouch)＋手負傷(worker_hand_pain)。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19088"/>
            <a:ext cx="11460175" cy="402336"/>
          </a:xfrm>
          <a:prstGeom prst="rect">
            <a:avLst/>
          </a:prstGeom>
          <a:noFill/>
        </p:spPr>
        <p:txBody>
          <a:bodyPr wrap="square" anchor="ctr" lIns="50800" rIns="50800" tIns="12700" bIns="12700">
            <a:spAutoFit/>
          </a:bodyPr>
          <a:lstStyle/>
          <a:p>
            <a:pPr algn="l"/>
            <a:r>
              <a:rPr sz="1000" b="0" lang="ja-JP" altLang="en-US">
                <a:solidFill>
                  <a:srgbClr val="444444"/>
                </a:solidFill>
                <a:latin typeface="游ゴシック"/>
                <a:ea typeface="游ゴシック"/>
                <a:cs typeface="游ゴシック"/>
              </a:rPr>
              <a:t>※ これはレイヤー合成のたたき台。各部品は移動・回転・拡縮可能な個別画像オブジェクト。最終調整はPowerPoint上で。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